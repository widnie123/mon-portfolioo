
<file path=[Content_Types].xml><?xml version="1.0" encoding="utf-8"?>
<Types xmlns="http://schemas.openxmlformats.org/package/2006/content-types">
  <Default Extension="jpeg" ContentType="image/jpe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68" r:id="rId2"/>
    <p:sldId id="258" r:id="rId3"/>
    <p:sldId id="260" r:id="rId4"/>
    <p:sldId id="265" r:id="rId5"/>
    <p:sldId id="266" r:id="rId6"/>
    <p:sldId id="259" r:id="rId7"/>
    <p:sldId id="261" r:id="rId8"/>
    <p:sldId id="262" r:id="rId9"/>
    <p:sldId id="263" r:id="rId10"/>
    <p:sldId id="264"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p:cViewPr>
        <p:scale>
          <a:sx n="87" d="100"/>
          <a:sy n="87" d="100"/>
        </p:scale>
        <p:origin x="906" y="-492"/>
      </p:cViewPr>
      <p:guideLst>
        <p:guide orient="horz" pos="2160"/>
        <p:guide pos="2880"/>
      </p:guideLst>
    </p:cSldViewPr>
  </p:slideViewPr>
  <p:notesTextViewPr>
    <p:cViewPr>
      <p:scale>
        <a:sx n="1" d="1"/>
        <a:sy n="1" d="1"/>
      </p:scale>
      <p:origin x="0" y="0"/>
    </p:cViewPr>
  </p:notesTextViewPr>
  <p:sorterViewPr>
    <p:cViewPr>
      <p:scale>
        <a:sx n="138" d="100"/>
        <a:sy n="138"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91394B-4E54-40F9-985A-AEA61C468881}" type="datetimeFigureOut">
              <a:rPr lang="en-US" smtClean="0"/>
              <a:t>3/12/2025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61804-846F-40C6-818D-F8B675DB6F3F}" type="slidenum">
              <a:rPr lang="en-US" smtClean="0"/>
              <a:t>‹#›</a:t>
            </a:fld>
            <a:endParaRPr lang="en-US"/>
          </a:p>
        </p:txBody>
      </p:sp>
    </p:spTree>
    <p:extLst>
      <p:ext uri="{BB962C8B-B14F-4D97-AF65-F5344CB8AC3E}">
        <p14:creationId xmlns:p14="http://schemas.microsoft.com/office/powerpoint/2010/main" val="4064166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D61804-846F-40C6-818D-F8B675DB6F3F}" type="slidenum">
              <a:rPr lang="en-US" smtClean="0"/>
              <a:t>3</a:t>
            </a:fld>
            <a:endParaRPr lang="en-US"/>
          </a:p>
        </p:txBody>
      </p:sp>
    </p:spTree>
    <p:extLst>
      <p:ext uri="{BB962C8B-B14F-4D97-AF65-F5344CB8AC3E}">
        <p14:creationId xmlns:p14="http://schemas.microsoft.com/office/powerpoint/2010/main" val="4214155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EF871E5F-5425-448C-9132-210E85FB2B0F}" type="datetimeFigureOut">
              <a:rPr lang="en-US" smtClean="0"/>
              <a:t>3/12/2025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100C5917-67A0-46FD-90C5-E70DE5D1AE2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871E5F-5425-448C-9132-210E85FB2B0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0C5917-67A0-46FD-90C5-E70DE5D1AE22}" type="slidenum">
              <a:rPr lang="en-US" smtClean="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F871E5F-5425-448C-9132-210E85FB2B0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0C5917-67A0-46FD-90C5-E70DE5D1AE22}"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871E5F-5425-448C-9132-210E85FB2B0F}"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0C5917-67A0-46FD-90C5-E70DE5D1AE22}" type="slidenum">
              <a:rPr lang="en-US" smtClean="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F871E5F-5425-448C-9132-210E85FB2B0F}" type="datetimeFigureOut">
              <a:rPr lang="en-US" smtClean="0"/>
              <a:t>3/12/2025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0C5917-67A0-46FD-90C5-E70DE5D1AE2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F871E5F-5425-448C-9132-210E85FB2B0F}" type="datetimeFigureOut">
              <a:rPr lang="en-US" smtClean="0"/>
              <a:t>3/12/2025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0C5917-67A0-46FD-90C5-E70DE5D1AE22}" type="slidenum">
              <a:rPr lang="en-US" smtClean="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871E5F-5425-448C-9132-210E85FB2B0F}" type="datetimeFigureOut">
              <a:rPr lang="en-US" smtClean="0"/>
              <a:t>3/12/2025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0C5917-67A0-46FD-90C5-E70DE5D1AE2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EF871E5F-5425-448C-9132-210E85FB2B0F}"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0C5917-67A0-46FD-90C5-E70DE5D1AE2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F871E5F-5425-448C-9132-210E85FB2B0F}" type="datetimeFigureOut">
              <a:rPr lang="en-US" smtClean="0"/>
              <a:t>3/12/2025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100C5917-67A0-46FD-90C5-E70DE5D1AE22}"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871E5F-5425-448C-9132-210E85FB2B0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0C5917-67A0-46FD-90C5-E70DE5D1AE2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F871E5F-5425-448C-9132-210E85FB2B0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0C5917-67A0-46FD-90C5-E70DE5D1AE2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EF871E5F-5425-448C-9132-210E85FB2B0F}" type="datetimeFigureOut">
              <a:rPr lang="en-US" smtClean="0"/>
              <a:t>3/12/2025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00C5917-67A0-46FD-90C5-E70DE5D1AE2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www.redhat.com/fr/topics/virtualization/what-is-a-hypervisor"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467544" y="1556792"/>
            <a:ext cx="8229600" cy="4525963"/>
          </a:xfrm>
          <a:prstGeom prst="rect">
            <a:avLst/>
          </a:prstGeom>
          <a:solidFill>
            <a:schemeClr val="bg1"/>
          </a:solidFill>
          <a:ln>
            <a:solidFill>
              <a:schemeClr val="bg2">
                <a:lumMod val="75000"/>
              </a:schemeClr>
            </a:solidFill>
          </a:ln>
        </p:spPr>
        <p:style>
          <a:lnRef idx="2">
            <a:schemeClr val="accent2"/>
          </a:lnRef>
          <a:fillRef idx="1">
            <a:schemeClr val="lt1"/>
          </a:fillRef>
          <a:effectRef idx="0">
            <a:schemeClr val="accent2"/>
          </a:effectRef>
          <a:fontRef idx="minor">
            <a:schemeClr val="dk1"/>
          </a:fontRef>
        </p:style>
        <p:txBody>
          <a:bodyPr>
            <a:normAutofit fontScale="3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None/>
            </a:pPr>
            <a:br>
              <a:rPr lang="en-US" sz="2800" dirty="0">
                <a:latin typeface="Corbel" pitchFamily="34" charset="0"/>
              </a:rPr>
            </a:br>
            <a:br>
              <a:rPr lang="en-US" sz="7000" dirty="0">
                <a:latin typeface="Corbel" pitchFamily="34" charset="0"/>
              </a:rPr>
            </a:br>
            <a:r>
              <a:rPr lang="en-US" sz="7000" dirty="0">
                <a:latin typeface="Bahnschrift Light SemiCondensed" pitchFamily="34" charset="0"/>
              </a:rPr>
              <a:t>  </a:t>
            </a:r>
            <a:br>
              <a:rPr lang="en-US" sz="7000" dirty="0">
                <a:latin typeface="Bahnschrift Light SemiCondensed" pitchFamily="34" charset="0"/>
              </a:rPr>
            </a:br>
            <a:r>
              <a:rPr lang="en-US" sz="7000" dirty="0">
                <a:latin typeface="Bahnschrift Light SemiCondensed" pitchFamily="34" charset="0"/>
              </a:rPr>
              <a:t> </a:t>
            </a:r>
            <a:r>
              <a:rPr lang="fr-FR" sz="7000" u="sng" dirty="0">
                <a:latin typeface="Bahnschrift Light SemiCondensed" pitchFamily="34" charset="0"/>
              </a:rPr>
              <a:t>Thème de l’exposé: </a:t>
            </a:r>
            <a:r>
              <a:rPr lang="fr-FR" sz="7000" b="1" dirty="0">
                <a:effectLst>
                  <a:outerShdw blurRad="38100" dist="38100" dir="2700000" algn="tl">
                    <a:srgbClr val="000000">
                      <a:alpha val="43137"/>
                    </a:srgbClr>
                  </a:outerShdw>
                </a:effectLst>
                <a:latin typeface="Bahnschrift Light SemiCondensed" pitchFamily="34" charset="0"/>
              </a:rPr>
              <a:t>La virtualisation un pilier de  l’informatique         moderne</a:t>
            </a:r>
            <a:endParaRPr lang="en-US" sz="7000" b="1" dirty="0">
              <a:effectLst>
                <a:outerShdw blurRad="38100" dist="38100" dir="2700000" algn="tl">
                  <a:srgbClr val="000000">
                    <a:alpha val="43137"/>
                  </a:srgbClr>
                </a:outerShdw>
              </a:effectLst>
              <a:latin typeface="Bahnschrift Light SemiCondensed" pitchFamily="34" charset="0"/>
            </a:endParaRPr>
          </a:p>
          <a:p>
            <a:pPr marL="109728" indent="0">
              <a:buNone/>
            </a:pPr>
            <a:br>
              <a:rPr lang="en-US" sz="7000" dirty="0">
                <a:latin typeface="Bahnschrift Light SemiCondensed" pitchFamily="34" charset="0"/>
              </a:rPr>
            </a:br>
            <a:br>
              <a:rPr lang="en-US" sz="7000" dirty="0">
                <a:latin typeface="Bahnschrift Light SemiCondensed" pitchFamily="34" charset="0"/>
              </a:rPr>
            </a:br>
            <a:br>
              <a:rPr lang="en-US" sz="7000" dirty="0">
                <a:latin typeface="Bahnschrift Light SemiCondensed" pitchFamily="34" charset="0"/>
              </a:rPr>
            </a:br>
            <a:br>
              <a:rPr lang="en-US" sz="7000" dirty="0">
                <a:latin typeface="Bahnschrift Light SemiCondensed" pitchFamily="34" charset="0"/>
              </a:rPr>
            </a:br>
            <a:r>
              <a:rPr lang="en-US" sz="7000" dirty="0">
                <a:latin typeface="Bahnschrift Light SemiCondensed" pitchFamily="34" charset="0"/>
              </a:rPr>
              <a:t> Widnie Delice</a:t>
            </a:r>
            <a:br>
              <a:rPr lang="en-US" sz="7000" dirty="0">
                <a:latin typeface="Bahnschrift Light SemiCondensed" pitchFamily="34" charset="0"/>
              </a:rPr>
            </a:br>
            <a:r>
              <a:rPr lang="en-US" sz="7000" dirty="0">
                <a:latin typeface="Bahnschrift Light SemiCondensed" pitchFamily="34" charset="0"/>
              </a:rPr>
              <a:t> Gerard Jerome</a:t>
            </a:r>
            <a:br>
              <a:rPr lang="en-US" sz="7000" dirty="0">
                <a:latin typeface="Bahnschrift Light SemiCondensed" pitchFamily="34" charset="0"/>
              </a:rPr>
            </a:br>
            <a:r>
              <a:rPr lang="en-US" sz="7000" dirty="0">
                <a:latin typeface="Bahnschrift Light SemiCondensed" pitchFamily="34" charset="0"/>
              </a:rPr>
              <a:t> Cesar </a:t>
            </a:r>
            <a:r>
              <a:rPr lang="en-US" sz="7000" dirty="0" err="1">
                <a:latin typeface="Bahnschrift Light SemiCondensed" pitchFamily="34" charset="0"/>
              </a:rPr>
              <a:t>Renoldson</a:t>
            </a:r>
            <a:r>
              <a:rPr lang="en-US" sz="7000" dirty="0">
                <a:latin typeface="Bahnschrift Light SemiCondensed" pitchFamily="34" charset="0"/>
              </a:rPr>
              <a:t> </a:t>
            </a:r>
            <a:br>
              <a:rPr lang="en-US" sz="7000" dirty="0">
                <a:latin typeface="Bahnschrift Light SemiCondensed" pitchFamily="34" charset="0"/>
              </a:rPr>
            </a:br>
            <a:br>
              <a:rPr lang="en-US" sz="7000" dirty="0">
                <a:latin typeface="Bahnschrift Light SemiCondensed" pitchFamily="34" charset="0"/>
              </a:rPr>
            </a:br>
            <a:r>
              <a:rPr lang="en-US" sz="7000" dirty="0">
                <a:latin typeface="Bahnschrift Light SemiCondensed" pitchFamily="34" charset="0"/>
              </a:rPr>
              <a:t>                                                                     Date:le-26-02-2025</a:t>
            </a:r>
            <a:br>
              <a:rPr lang="en-US" sz="7000" dirty="0">
                <a:latin typeface="Bahnschrift Light SemiCondensed" pitchFamily="34" charset="0"/>
              </a:rPr>
            </a:br>
            <a:br>
              <a:rPr lang="en-US" sz="7000" dirty="0">
                <a:latin typeface="Corbel" pitchFamily="34" charset="0"/>
              </a:rPr>
            </a:br>
            <a:br>
              <a:rPr lang="en-US" sz="2800" dirty="0">
                <a:latin typeface="Corbel" pitchFamily="34" charset="0"/>
              </a:rPr>
            </a:br>
            <a:endParaRPr lang="en-US" sz="2800" dirty="0">
              <a:latin typeface="Corbel" pitchFamily="34" charset="0"/>
            </a:endParaRPr>
          </a:p>
        </p:txBody>
      </p:sp>
      <p:grpSp>
        <p:nvGrpSpPr>
          <p:cNvPr id="11" name="Group 10"/>
          <p:cNvGrpSpPr/>
          <p:nvPr/>
        </p:nvGrpSpPr>
        <p:grpSpPr>
          <a:xfrm>
            <a:off x="2573778" y="2411333"/>
            <a:ext cx="3969441" cy="2311113"/>
            <a:chOff x="2573778" y="2411333"/>
            <a:chExt cx="3969441" cy="2311113"/>
          </a:xfrm>
        </p:grpSpPr>
        <p:grpSp>
          <p:nvGrpSpPr>
            <p:cNvPr id="5" name="Group 4"/>
            <p:cNvGrpSpPr/>
            <p:nvPr/>
          </p:nvGrpSpPr>
          <p:grpSpPr>
            <a:xfrm>
              <a:off x="2573778" y="2411334"/>
              <a:ext cx="1314146" cy="2311111"/>
              <a:chOff x="2843808" y="2420888"/>
              <a:chExt cx="1314146" cy="2311111"/>
            </a:xfrm>
          </p:grpSpPr>
          <p:sp>
            <p:nvSpPr>
              <p:cNvPr id="3" name="Multiply 2"/>
              <p:cNvSpPr/>
              <p:nvPr/>
            </p:nvSpPr>
            <p:spPr>
              <a:xfrm>
                <a:off x="2843808" y="2420888"/>
                <a:ext cx="1314146" cy="2311111"/>
              </a:xfrm>
              <a:prstGeom prst="mathMultiply">
                <a:avLst>
                  <a:gd name="adj1" fmla="val 5196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Rectangle 3"/>
              <p:cNvSpPr/>
              <p:nvPr/>
            </p:nvSpPr>
            <p:spPr>
              <a:xfrm flipH="1">
                <a:off x="3374867" y="3114779"/>
                <a:ext cx="252028" cy="923330"/>
              </a:xfrm>
              <a:prstGeom prst="rect">
                <a:avLst/>
              </a:prstGeom>
              <a:noFill/>
            </p:spPr>
            <p:txBody>
              <a:bodyPr wrap="square" lIns="91440" tIns="45720" rIns="91440" bIns="45720">
                <a:spAutoFit/>
              </a:bodyPr>
              <a:lstStyle/>
              <a:p>
                <a:pPr algn="ct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rPr>
                  <a:t>g</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endParaRPr>
              </a:p>
            </p:txBody>
          </p:sp>
        </p:grpSp>
        <p:sp>
          <p:nvSpPr>
            <p:cNvPr id="6" name="Multiply 5"/>
            <p:cNvSpPr/>
            <p:nvPr/>
          </p:nvSpPr>
          <p:spPr>
            <a:xfrm>
              <a:off x="3914927" y="2411335"/>
              <a:ext cx="1314146" cy="2311111"/>
            </a:xfrm>
            <a:prstGeom prst="mathMultiply">
              <a:avLst>
                <a:gd name="adj1" fmla="val 5196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Multiply 6"/>
            <p:cNvSpPr/>
            <p:nvPr/>
          </p:nvSpPr>
          <p:spPr>
            <a:xfrm>
              <a:off x="5229073" y="2411333"/>
              <a:ext cx="1314146" cy="2311111"/>
            </a:xfrm>
            <a:prstGeom prst="mathMultiply">
              <a:avLst>
                <a:gd name="adj1" fmla="val 5196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ectangle 7"/>
            <p:cNvSpPr/>
            <p:nvPr/>
          </p:nvSpPr>
          <p:spPr>
            <a:xfrm flipH="1">
              <a:off x="5772607" y="3133706"/>
              <a:ext cx="252028" cy="923330"/>
            </a:xfrm>
            <a:prstGeom prst="rect">
              <a:avLst/>
            </a:prstGeom>
            <a:noFill/>
          </p:spPr>
          <p:txBody>
            <a:bodyPr wrap="square" lIns="91440" tIns="45720" rIns="91440" bIns="45720">
              <a:spAutoFit/>
            </a:bodyPr>
            <a:lstStyle/>
            <a:p>
              <a:pPr algn="ct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rPr>
                <a:t>C</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endParaRPr>
            </a:p>
          </p:txBody>
        </p:sp>
        <p:sp>
          <p:nvSpPr>
            <p:cNvPr id="9" name="Rectangle 8"/>
            <p:cNvSpPr/>
            <p:nvPr/>
          </p:nvSpPr>
          <p:spPr>
            <a:xfrm flipH="1">
              <a:off x="4445986" y="3092832"/>
              <a:ext cx="252028" cy="923330"/>
            </a:xfrm>
            <a:prstGeom prst="rect">
              <a:avLst/>
            </a:prstGeom>
            <a:noFill/>
          </p:spPr>
          <p:txBody>
            <a:bodyPr wrap="square" lIns="91440" tIns="45720" rIns="91440" bIns="45720">
              <a:spAutoFit/>
            </a:bodyPr>
            <a:lstStyle/>
            <a:p>
              <a:pPr algn="ct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rPr>
                <a:t>w</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Castellar" pitchFamily="18" charset="0"/>
              </a:endParaRPr>
            </a:p>
          </p:txBody>
        </p:sp>
      </p:grpSp>
    </p:spTree>
    <p:extLst>
      <p:ext uri="{BB962C8B-B14F-4D97-AF65-F5344CB8AC3E}">
        <p14:creationId xmlns:p14="http://schemas.microsoft.com/office/powerpoint/2010/main" val="3370720956"/>
      </p:ext>
    </p:extLst>
  </p:cSld>
  <p:clrMapOvr>
    <a:masterClrMapping/>
  </p:clrMapOvr>
  <mc:AlternateContent xmlns:mc="http://schemas.openxmlformats.org/markup-compatibility/2006" xmlns:p14="http://schemas.microsoft.com/office/powerpoint/2010/main">
    <mc:Choice Requires="p14">
      <p:transition spd="slow" p14:dur="5000" advTm="15000">
        <p:split orient="vert"/>
      </p:transition>
    </mc:Choice>
    <mc:Fallback xmlns="">
      <p:transition spd="slow" advTm="15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mph" presetSubtype="0" fill="hold" grpId="0" nodeType="withEffect">
                                  <p:stCondLst>
                                    <p:cond delay="0"/>
                                  </p:stCondLst>
                                  <p:childTnLst>
                                    <p:animClr clrSpc="hsl" dir="cw">
                                      <p:cBhvr override="childStyle">
                                        <p:cTn id="6" dur="500" fill="hold"/>
                                        <p:tgtEl>
                                          <p:spTgt spid="2"/>
                                        </p:tgtEl>
                                        <p:attrNameLst>
                                          <p:attrName>style.color</p:attrName>
                                        </p:attrNameLst>
                                      </p:cBhvr>
                                      <p:by>
                                        <p:hsl h="0" s="-12549" l="-25098"/>
                                      </p:by>
                                    </p:animClr>
                                    <p:animClr clrSpc="hsl" dir="cw">
                                      <p:cBhvr>
                                        <p:cTn id="7" dur="500" fill="hold"/>
                                        <p:tgtEl>
                                          <p:spTgt spid="2"/>
                                        </p:tgtEl>
                                        <p:attrNameLst>
                                          <p:attrName>fillcolor</p:attrName>
                                        </p:attrNameLst>
                                      </p:cBhvr>
                                      <p:by>
                                        <p:hsl h="0" s="-12549" l="-25098"/>
                                      </p:by>
                                    </p:animClr>
                                    <p:animClr clrSpc="hsl" dir="cw">
                                      <p:cBhvr>
                                        <p:cTn id="8" dur="500" fill="hold"/>
                                        <p:tgtEl>
                                          <p:spTgt spid="2"/>
                                        </p:tgtEl>
                                        <p:attrNameLst>
                                          <p:attrName>stroke.color</p:attrName>
                                        </p:attrNameLst>
                                      </p:cBhvr>
                                      <p:by>
                                        <p:hsl h="0" s="-12549" l="-25098"/>
                                      </p:by>
                                    </p:animClr>
                                    <p:set>
                                      <p:cBhvr>
                                        <p:cTn id="9" dur="500" fill="hold"/>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556792"/>
            <a:ext cx="8229600" cy="4525963"/>
          </a:xfrm>
          <a:solidFill>
            <a:schemeClr val="bg2"/>
          </a:solidFill>
          <a:ln>
            <a:solidFill>
              <a:schemeClr val="bg1"/>
            </a:solidFill>
          </a:ln>
          <a:effectLst>
            <a:outerShdw blurRad="63500" sx="102000" sy="102000" algn="ctr" rotWithShape="0">
              <a:prstClr val="black">
                <a:alpha val="40000"/>
              </a:prstClr>
            </a:outerShdw>
          </a:effectLst>
        </p:spPr>
        <p:txBody>
          <a:bodyPr>
            <a:normAutofit/>
          </a:bodyPr>
          <a:lstStyle/>
          <a:p>
            <a:pPr>
              <a:buFont typeface="Wingdings" pitchFamily="2" charset="2"/>
              <a:buChar char="§"/>
            </a:pPr>
            <a:r>
              <a:rPr lang="en-US" sz="2800" dirty="0">
                <a:latin typeface="Corbel" pitchFamily="34" charset="0"/>
              </a:rPr>
              <a:t>Definition de la </a:t>
            </a:r>
            <a:r>
              <a:rPr lang="en-US" sz="2800" b="1" dirty="0" err="1">
                <a:latin typeface="Corbel" pitchFamily="34" charset="0"/>
              </a:rPr>
              <a:t>virtualisation</a:t>
            </a:r>
            <a:br>
              <a:rPr lang="en-US" sz="2800" dirty="0">
                <a:latin typeface="Corbel" pitchFamily="34" charset="0"/>
              </a:rPr>
            </a:br>
            <a:br>
              <a:rPr lang="en-US" sz="2800" dirty="0">
                <a:latin typeface="Corbel" pitchFamily="34" charset="0"/>
              </a:rPr>
            </a:br>
            <a:r>
              <a:rPr lang="en-US" sz="2800" dirty="0">
                <a:latin typeface="Corbel" pitchFamily="34" charset="0"/>
              </a:rPr>
              <a:t>on </a:t>
            </a:r>
            <a:r>
              <a:rPr lang="en-US" sz="2800" dirty="0" err="1">
                <a:latin typeface="Corbel" pitchFamily="34" charset="0"/>
              </a:rPr>
              <a:t>dit</a:t>
            </a:r>
            <a:r>
              <a:rPr lang="en-US" sz="2800" dirty="0">
                <a:latin typeface="Corbel" pitchFamily="34" charset="0"/>
              </a:rPr>
              <a:t> </a:t>
            </a:r>
            <a:r>
              <a:rPr lang="en-US" sz="2800" dirty="0" err="1">
                <a:latin typeface="Corbel" pitchFamily="34" charset="0"/>
              </a:rPr>
              <a:t>que</a:t>
            </a:r>
            <a:r>
              <a:rPr lang="en-US" sz="2800" dirty="0">
                <a:latin typeface="Corbel" pitchFamily="34" charset="0"/>
              </a:rPr>
              <a:t> la </a:t>
            </a:r>
            <a:r>
              <a:rPr lang="fr-FR" sz="2800" dirty="0">
                <a:latin typeface="Corbel" pitchFamily="34" charset="0"/>
              </a:rPr>
              <a:t>virtualisation est une technologie qui permet de créer une version virtuelle des ressources informatiques, telles que des serveurs, des systèmes de stockage, des réseaux, ou même des systèmes d'exploitation.</a:t>
            </a:r>
            <a:endParaRPr lang="en-US" sz="2800" dirty="0">
              <a:latin typeface="Corbel" pitchFamily="34" charset="0"/>
            </a:endParaRPr>
          </a:p>
        </p:txBody>
      </p:sp>
      <p:sp>
        <p:nvSpPr>
          <p:cNvPr id="2" name="Title 1"/>
          <p:cNvSpPr>
            <a:spLocks noGrp="1"/>
          </p:cNvSpPr>
          <p:nvPr>
            <p:ph type="title"/>
          </p:nvPr>
        </p:nvSpPr>
        <p:spPr>
          <a:xfrm>
            <a:off x="384111" y="213798"/>
            <a:ext cx="8375777" cy="1197229"/>
          </a:xfrm>
          <a:solidFill>
            <a:srgbClr val="00B0F0"/>
          </a:solidFill>
          <a:ln>
            <a:solidFill>
              <a:schemeClr val="bg1"/>
            </a:solidFill>
          </a:ln>
          <a:effectLst>
            <a:outerShdw blurRad="63500" sx="102000" sy="102000" algn="ctr" rotWithShape="0">
              <a:prstClr val="black">
                <a:alpha val="40000"/>
              </a:prstClr>
            </a:outerShdw>
          </a:effectLst>
        </p:spPr>
        <p:txBody>
          <a:bodyPr>
            <a:noAutofit/>
          </a:bodyPr>
          <a:lstStyle/>
          <a:p>
            <a:pPr algn="ctr"/>
            <a:r>
              <a:rPr lang="en-US" sz="3200" b="1" i="1" dirty="0">
                <a:solidFill>
                  <a:schemeClr val="tx1"/>
                </a:solidFill>
                <a:effectLst>
                  <a:outerShdw blurRad="38100" dist="38100" dir="2700000" algn="tl">
                    <a:srgbClr val="000000">
                      <a:alpha val="43137"/>
                    </a:srgbClr>
                  </a:outerShdw>
                </a:effectLst>
                <a:latin typeface="Bahnschrift Light SemiCondensed" pitchFamily="34" charset="0"/>
              </a:rPr>
              <a:t>La </a:t>
            </a:r>
            <a:r>
              <a:rPr lang="en-US" sz="3200" b="1" i="1" dirty="0" err="1">
                <a:solidFill>
                  <a:schemeClr val="tx1"/>
                </a:solidFill>
                <a:effectLst>
                  <a:outerShdw blurRad="38100" dist="38100" dir="2700000" algn="tl">
                    <a:srgbClr val="000000">
                      <a:alpha val="43137"/>
                    </a:srgbClr>
                  </a:outerShdw>
                </a:effectLst>
                <a:latin typeface="Bahnschrift Light SemiCondensed" pitchFamily="34" charset="0"/>
              </a:rPr>
              <a:t>virtualisation</a:t>
            </a:r>
            <a:r>
              <a:rPr lang="en-US" sz="3200" b="1" i="1" dirty="0">
                <a:solidFill>
                  <a:schemeClr val="tx1"/>
                </a:solidFill>
                <a:effectLst>
                  <a:outerShdw blurRad="38100" dist="38100" dir="2700000" algn="tl">
                    <a:srgbClr val="000000">
                      <a:alpha val="43137"/>
                    </a:srgbClr>
                  </a:outerShdw>
                </a:effectLst>
                <a:latin typeface="Bahnschrift Light SemiCondensed" pitchFamily="34" charset="0"/>
              </a:rPr>
              <a:t> </a:t>
            </a:r>
            <a:r>
              <a:rPr lang="en-US" sz="3200" b="1" i="1" dirty="0" err="1">
                <a:solidFill>
                  <a:schemeClr val="tx1"/>
                </a:solidFill>
                <a:effectLst>
                  <a:outerShdw blurRad="38100" dist="38100" dir="2700000" algn="tl">
                    <a:srgbClr val="000000">
                      <a:alpha val="43137"/>
                    </a:srgbClr>
                  </a:outerShdw>
                </a:effectLst>
                <a:latin typeface="Bahnschrift Light SemiCondensed" pitchFamily="34" charset="0"/>
              </a:rPr>
              <a:t>est</a:t>
            </a:r>
            <a:r>
              <a:rPr lang="en-US" sz="3200" b="1" i="1" dirty="0">
                <a:solidFill>
                  <a:schemeClr val="tx1"/>
                </a:solidFill>
                <a:effectLst>
                  <a:outerShdw blurRad="38100" dist="38100" dir="2700000" algn="tl">
                    <a:srgbClr val="000000">
                      <a:alpha val="43137"/>
                    </a:srgbClr>
                  </a:outerShdw>
                </a:effectLst>
                <a:latin typeface="Bahnschrift Light SemiCondensed" pitchFamily="34" charset="0"/>
              </a:rPr>
              <a:t> un </a:t>
            </a:r>
            <a:r>
              <a:rPr lang="en-US" sz="3200" b="1" i="1" dirty="0" err="1">
                <a:solidFill>
                  <a:schemeClr val="tx1"/>
                </a:solidFill>
                <a:effectLst>
                  <a:outerShdw blurRad="38100" dist="38100" dir="2700000" algn="tl">
                    <a:srgbClr val="000000">
                      <a:alpha val="43137"/>
                    </a:srgbClr>
                  </a:outerShdw>
                </a:effectLst>
                <a:latin typeface="Bahnschrift Light SemiCondensed" pitchFamily="34" charset="0"/>
              </a:rPr>
              <a:t>pilier</a:t>
            </a:r>
            <a:r>
              <a:rPr lang="en-US" sz="3200" b="1" i="1" dirty="0">
                <a:solidFill>
                  <a:schemeClr val="tx1"/>
                </a:solidFill>
                <a:effectLst>
                  <a:outerShdw blurRad="38100" dist="38100" dir="2700000" algn="tl">
                    <a:srgbClr val="000000">
                      <a:alpha val="43137"/>
                    </a:srgbClr>
                  </a:outerShdw>
                </a:effectLst>
                <a:latin typeface="Bahnschrift Light SemiCondensed" pitchFamily="34" charset="0"/>
              </a:rPr>
              <a:t> de </a:t>
            </a:r>
            <a:r>
              <a:rPr lang="en-US" sz="3200" b="1" i="1" dirty="0" err="1">
                <a:solidFill>
                  <a:schemeClr val="tx1"/>
                </a:solidFill>
                <a:effectLst>
                  <a:outerShdw blurRad="38100" dist="38100" dir="2700000" algn="tl">
                    <a:srgbClr val="000000">
                      <a:alpha val="43137"/>
                    </a:srgbClr>
                  </a:outerShdw>
                </a:effectLst>
                <a:latin typeface="Bahnschrift Light SemiCondensed" pitchFamily="34" charset="0"/>
              </a:rPr>
              <a:t>l’informatique</a:t>
            </a:r>
            <a:r>
              <a:rPr lang="en-US" sz="3200" b="1" i="1" dirty="0">
                <a:solidFill>
                  <a:schemeClr val="tx1"/>
                </a:solidFill>
                <a:effectLst>
                  <a:outerShdw blurRad="38100" dist="38100" dir="2700000" algn="tl">
                    <a:srgbClr val="000000">
                      <a:alpha val="43137"/>
                    </a:srgbClr>
                  </a:outerShdw>
                </a:effectLst>
                <a:latin typeface="Bahnschrift Light SemiCondensed" pitchFamily="34" charset="0"/>
              </a:rPr>
              <a:t> </a:t>
            </a:r>
            <a:r>
              <a:rPr lang="en-US" sz="3200" b="1" i="1" dirty="0" err="1">
                <a:solidFill>
                  <a:schemeClr val="tx1"/>
                </a:solidFill>
                <a:effectLst>
                  <a:outerShdw blurRad="38100" dist="38100" dir="2700000" algn="tl">
                    <a:srgbClr val="000000">
                      <a:alpha val="43137"/>
                    </a:srgbClr>
                  </a:outerShdw>
                </a:effectLst>
                <a:latin typeface="Bahnschrift Light SemiCondensed" pitchFamily="34" charset="0"/>
              </a:rPr>
              <a:t>moderne</a:t>
            </a:r>
            <a:endParaRPr lang="en-US" sz="3200" b="1" i="1" dirty="0">
              <a:solidFill>
                <a:schemeClr val="tx1"/>
              </a:solidFill>
              <a:effectLst>
                <a:outerShdw blurRad="38100" dist="38100" dir="2700000" algn="tl">
                  <a:srgbClr val="000000">
                    <a:alpha val="43137"/>
                  </a:srgbClr>
                </a:outerShdw>
              </a:effectLst>
              <a:latin typeface="Bahnschrift Light SemiCondensed" pitchFamily="34" charset="0"/>
            </a:endParaRPr>
          </a:p>
        </p:txBody>
      </p:sp>
      <p:sp>
        <p:nvSpPr>
          <p:cNvPr id="5" name="AutoShape 2" descr="Virtualization Icon For Virtual Machines - Openclip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8" descr="Virtualization Icon For Virtual Machines - Openclipart"/>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6948264" y="4437112"/>
            <a:ext cx="1656183" cy="1496165"/>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987214"/>
      </p:ext>
    </p:extLst>
  </p:cSld>
  <p:clrMapOvr>
    <a:masterClrMapping/>
  </p:clrMapOvr>
  <mc:AlternateContent xmlns:mc="http://schemas.openxmlformats.org/markup-compatibility/2006" xmlns:p14="http://schemas.microsoft.com/office/powerpoint/2010/main">
    <mc:Choice Requires="p14">
      <p:transition spd="slow" p14:dur="5000" advTm="26000">
        <p:push dir="u"/>
      </p:transition>
    </mc:Choice>
    <mc:Fallback xmlns="">
      <p:transition spd="slow" advTm="26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3">
                                            <p:bg/>
                                          </p:spTgt>
                                        </p:tgtEl>
                                        <p:attrNameLst>
                                          <p:attrName>style.visibility</p:attrName>
                                        </p:attrNameLst>
                                      </p:cBhvr>
                                      <p:to>
                                        <p:strVal val="visible"/>
                                      </p:to>
                                    </p:set>
                                    <p:anim calcmode="lin" valueType="num">
                                      <p:cBhvr additive="base">
                                        <p:cTn id="12"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3" dur="500" fill="hold"/>
                                        <p:tgtEl>
                                          <p:spTgt spid="3">
                                            <p:bg/>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additive="base">
                                        <p:cTn id="16"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Corbel" pitchFamily="34" charset="0"/>
              </a:rPr>
              <a:t>Pour dire que la virtualisation est un pilier il faut donner les caractéristiques essentiels d’un pilier, et ces caractéristiques sont:</a:t>
            </a:r>
            <a:br>
              <a:rPr lang="fr-FR" sz="2400" dirty="0">
                <a:solidFill>
                  <a:schemeClr val="tx1"/>
                </a:solidFill>
                <a:latin typeface="Corbel" pitchFamily="34" charset="0"/>
              </a:rPr>
            </a:br>
            <a:r>
              <a:rPr lang="fr-FR" sz="2400" dirty="0">
                <a:solidFill>
                  <a:schemeClr val="tx1"/>
                </a:solidFill>
                <a:latin typeface="Corbel" pitchFamily="34" charset="0"/>
              </a:rPr>
              <a:t>La stabilité</a:t>
            </a:r>
            <a:br>
              <a:rPr lang="fr-FR" sz="2400" dirty="0">
                <a:solidFill>
                  <a:schemeClr val="tx1"/>
                </a:solidFill>
                <a:latin typeface="Corbel" pitchFamily="34" charset="0"/>
              </a:rPr>
            </a:br>
            <a:r>
              <a:rPr lang="fr-FR" sz="2400" dirty="0">
                <a:solidFill>
                  <a:schemeClr val="tx1"/>
                </a:solidFill>
                <a:latin typeface="Corbel" pitchFamily="34" charset="0"/>
              </a:rPr>
              <a:t>la solidité  et</a:t>
            </a:r>
            <a:br>
              <a:rPr lang="fr-FR" sz="2400" dirty="0">
                <a:solidFill>
                  <a:schemeClr val="tx1"/>
                </a:solidFill>
                <a:latin typeface="Corbel" pitchFamily="34" charset="0"/>
              </a:rPr>
            </a:br>
            <a:r>
              <a:rPr lang="fr-FR" sz="2400" dirty="0">
                <a:solidFill>
                  <a:schemeClr val="tx1"/>
                </a:solidFill>
                <a:latin typeface="Corbel" pitchFamily="34" charset="0"/>
              </a:rPr>
              <a:t>Son importance </a:t>
            </a:r>
            <a:br>
              <a:rPr lang="fr-FR" sz="2400" dirty="0">
                <a:solidFill>
                  <a:schemeClr val="tx1"/>
                </a:solidFill>
                <a:latin typeface="Corbel" pitchFamily="34" charset="0"/>
              </a:rPr>
            </a:br>
            <a:br>
              <a:rPr lang="fr-FR" sz="2400" dirty="0">
                <a:solidFill>
                  <a:schemeClr val="tx1"/>
                </a:solidFill>
                <a:latin typeface="Corbel" pitchFamily="34" charset="0"/>
              </a:rPr>
            </a:br>
            <a:r>
              <a:rPr lang="fr-FR" sz="2400" dirty="0">
                <a:solidFill>
                  <a:schemeClr val="tx1"/>
                </a:solidFill>
                <a:latin typeface="Corbel" pitchFamily="34" charset="0"/>
              </a:rPr>
              <a:t>Ce sont ces trois mots clés, </a:t>
            </a:r>
            <a:r>
              <a:rPr lang="fr-FR" sz="2400" dirty="0" err="1">
                <a:solidFill>
                  <a:schemeClr val="tx1"/>
                </a:solidFill>
                <a:latin typeface="Corbel" pitchFamily="34" charset="0"/>
              </a:rPr>
              <a:t>Stabilité,Il</a:t>
            </a:r>
            <a:r>
              <a:rPr lang="fr-FR" sz="2400" dirty="0">
                <a:solidFill>
                  <a:schemeClr val="tx1"/>
                </a:solidFill>
                <a:latin typeface="Corbel" pitchFamily="34" charset="0"/>
              </a:rPr>
              <a:t> doit être solidement ancré et capable de résister aux forces extérieures. Solidité ça doit être robuste et résistant pour pouvoir supporter des charges importantes et l’importance l</a:t>
            </a:r>
            <a:r>
              <a:rPr lang="en-US" sz="2400" dirty="0">
                <a:solidFill>
                  <a:schemeClr val="tx1"/>
                </a:solidFill>
                <a:latin typeface="Corbel" pitchFamily="34" charset="0"/>
              </a:rPr>
              <a:t>’</a:t>
            </a:r>
            <a:r>
              <a:rPr lang="fr-FR" sz="2400" dirty="0">
                <a:solidFill>
                  <a:schemeClr val="tx1"/>
                </a:solidFill>
                <a:latin typeface="Corbel" pitchFamily="34" charset="0"/>
              </a:rPr>
              <a:t>élément indispensable, sans lequel la structure ou l'ensemble s'effondrerait et c’est ce que fait la virtualisation dans l’informatique.</a:t>
            </a:r>
            <a:br>
              <a:rPr lang="fr-FR" sz="2400" dirty="0">
                <a:latin typeface="Corbel" pitchFamily="34" charset="0"/>
              </a:rPr>
            </a:br>
            <a:r>
              <a:rPr lang="fr-FR" sz="2400" dirty="0"/>
              <a:t> </a:t>
            </a:r>
            <a:br>
              <a:rPr lang="fr-FR" sz="2400" dirty="0"/>
            </a:br>
            <a:endParaRPr lang="en-US" dirty="0"/>
          </a:p>
        </p:txBody>
      </p:sp>
    </p:spTree>
    <p:extLst>
      <p:ext uri="{BB962C8B-B14F-4D97-AF65-F5344CB8AC3E}">
        <p14:creationId xmlns:p14="http://schemas.microsoft.com/office/powerpoint/2010/main" val="2735592195"/>
      </p:ext>
    </p:extLst>
  </p:cSld>
  <p:clrMapOvr>
    <a:masterClrMapping/>
  </p:clrMapOvr>
  <mc:AlternateContent xmlns:mc="http://schemas.openxmlformats.org/markup-compatibility/2006" xmlns:p14="http://schemas.microsoft.com/office/powerpoint/2010/main">
    <mc:Choice Requires="p14">
      <p:transition spd="slow" p14:dur="4000" advTm="40000">
        <p:push dir="u"/>
      </p:transition>
    </mc:Choice>
    <mc:Fallback xmlns="">
      <p:transition spd="slow" advTm="4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i="1" u="sng" dirty="0">
                <a:solidFill>
                  <a:schemeClr val="tx1"/>
                </a:solidFill>
                <a:latin typeface="Bahnschrift Light SemiCondensed" pitchFamily="34" charset="0"/>
              </a:rPr>
              <a:t>Des arguments pour démontrer que la virtualisation et un pilier de l’informatique</a:t>
            </a:r>
            <a:endParaRPr lang="en-US" sz="2400" b="1" i="1" u="sng" dirty="0">
              <a:solidFill>
                <a:schemeClr val="tx1"/>
              </a:solidFill>
              <a:latin typeface="Bahnschrift Light SemiCondensed" pitchFamily="34" charset="0"/>
            </a:endParaRPr>
          </a:p>
          <a:p>
            <a:br>
              <a:rPr lang="fr-FR" sz="2800" b="1" i="1" dirty="0">
                <a:latin typeface="Bahnschrift Light SemiCondensed" pitchFamily="34" charset="0"/>
              </a:rPr>
            </a:br>
            <a:r>
              <a:rPr lang="fr-FR" sz="2800" dirty="0">
                <a:solidFill>
                  <a:schemeClr val="tx1"/>
                </a:solidFill>
              </a:rPr>
              <a:t>.</a:t>
            </a:r>
            <a:r>
              <a:rPr lang="fr-FR" b="1" dirty="0">
                <a:solidFill>
                  <a:schemeClr val="tx1"/>
                </a:solidFill>
                <a:latin typeface="Corbel" pitchFamily="34" charset="0"/>
              </a:rPr>
              <a:t>Transformation des Infrastructures</a:t>
            </a:r>
            <a:r>
              <a:rPr lang="fr-FR" dirty="0">
                <a:solidFill>
                  <a:schemeClr val="tx1"/>
                </a:solidFill>
                <a:latin typeface="Corbel" pitchFamily="34" charset="0"/>
              </a:rPr>
              <a:t> : La virtualisation a révolutionné la manière dont les infrastructures informatiques sont conçues et gérées, permettant une plus grande flexibilité et une meilleure utilisation des ressources.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Support des Technologies Émergentes </a:t>
            </a:r>
            <a:r>
              <a:rPr lang="fr-FR" dirty="0">
                <a:solidFill>
                  <a:schemeClr val="tx1"/>
                </a:solidFill>
                <a:latin typeface="Corbel" pitchFamily="34" charset="0"/>
              </a:rPr>
              <a:t>: La virtualisation est essentielle pour supporter des technologies émergentes telles que l'intelligence artificielle, l'Internet des objets (</a:t>
            </a:r>
            <a:r>
              <a:rPr lang="fr-FR" dirty="0" err="1">
                <a:solidFill>
                  <a:schemeClr val="tx1"/>
                </a:solidFill>
                <a:latin typeface="Corbel" pitchFamily="34" charset="0"/>
              </a:rPr>
              <a:t>IoT</a:t>
            </a:r>
            <a:r>
              <a:rPr lang="fr-FR" dirty="0">
                <a:solidFill>
                  <a:schemeClr val="tx1"/>
                </a:solidFill>
                <a:latin typeface="Corbel" pitchFamily="34" charset="0"/>
              </a:rPr>
              <a:t>) et le </a:t>
            </a:r>
            <a:r>
              <a:rPr lang="fr-FR" dirty="0" err="1">
                <a:solidFill>
                  <a:schemeClr val="tx1"/>
                </a:solidFill>
                <a:latin typeface="Corbel" pitchFamily="34" charset="0"/>
              </a:rPr>
              <a:t>big</a:t>
            </a:r>
            <a:r>
              <a:rPr lang="fr-FR" dirty="0">
                <a:solidFill>
                  <a:schemeClr val="tx1"/>
                </a:solidFill>
                <a:latin typeface="Corbel" pitchFamily="34" charset="0"/>
              </a:rPr>
              <a:t> data, en fournissant des environnements flexibles et évolutifs.</a:t>
            </a:r>
            <a:endParaRPr lang="en-US" dirty="0">
              <a:solidFill>
                <a:schemeClr val="tx1"/>
              </a:solidFill>
              <a:latin typeface="Corbel" pitchFamily="34" charset="0"/>
            </a:endParaRPr>
          </a:p>
          <a:p>
            <a:r>
              <a:rPr lang="fr-FR" dirty="0">
                <a:solidFill>
                  <a:schemeClr val="tx1"/>
                </a:solidFill>
                <a:latin typeface="Corbel" pitchFamily="34" charset="0"/>
              </a:rPr>
              <a:t> </a:t>
            </a:r>
          </a:p>
          <a:p>
            <a:r>
              <a:rPr lang="fr-FR" b="1" dirty="0">
                <a:solidFill>
                  <a:schemeClr val="tx1"/>
                </a:solidFill>
                <a:latin typeface="Corbel" pitchFamily="34" charset="0"/>
              </a:rPr>
              <a:t>.Réduction des Coûts</a:t>
            </a:r>
            <a:r>
              <a:rPr lang="fr-FR" dirty="0">
                <a:solidFill>
                  <a:schemeClr val="tx1"/>
                </a:solidFill>
                <a:latin typeface="Corbel" pitchFamily="34" charset="0"/>
              </a:rPr>
              <a:t> : En permettant une meilleure utilisation des ressources matérielles, la virtualisation réduit les coûts d'investissement et d'exploitation pour les entreprises.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endParaRPr lang="en-US" sz="2000" dirty="0">
              <a:solidFill>
                <a:schemeClr val="tx1"/>
              </a:solidFill>
            </a:endParaRPr>
          </a:p>
          <a:p>
            <a:pPr algn="ctr"/>
            <a:endParaRPr lang="en-US" dirty="0"/>
          </a:p>
        </p:txBody>
      </p:sp>
    </p:spTree>
    <p:extLst>
      <p:ext uri="{BB962C8B-B14F-4D97-AF65-F5344CB8AC3E}">
        <p14:creationId xmlns:p14="http://schemas.microsoft.com/office/powerpoint/2010/main" val="2057242984"/>
      </p:ext>
    </p:extLst>
  </p:cSld>
  <p:clrMapOvr>
    <a:masterClrMapping/>
  </p:clrMapOvr>
  <mc:AlternateContent xmlns:mc="http://schemas.openxmlformats.org/markup-compatibility/2006" xmlns:p14="http://schemas.microsoft.com/office/powerpoint/2010/main">
    <mc:Choice Requires="p14">
      <p:transition spd="slow" p14:dur="4000" advTm="50000">
        <p:push dir="u"/>
      </p:transition>
    </mc:Choice>
    <mc:Fallback xmlns="">
      <p:transition spd="slow" advTm="5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latin typeface="Corbel" pitchFamily="34" charset="0"/>
              </a:rPr>
              <a:t> </a:t>
            </a:r>
            <a:br>
              <a:rPr lang="en-US" dirty="0">
                <a:solidFill>
                  <a:schemeClr val="tx1"/>
                </a:solidFill>
                <a:latin typeface="Corbel" pitchFamily="34" charset="0"/>
              </a:rPr>
            </a:br>
            <a:br>
              <a:rPr lang="en-US" dirty="0">
                <a:solidFill>
                  <a:schemeClr val="tx1"/>
                </a:solidFill>
                <a:latin typeface="Corbel" pitchFamily="34" charset="0"/>
              </a:rPr>
            </a:br>
            <a:endParaRPr lang="en-US" dirty="0">
              <a:solidFill>
                <a:schemeClr val="tx1"/>
              </a:solidFill>
              <a:latin typeface="Corbel" pitchFamily="34" charset="0"/>
            </a:endParaRPr>
          </a:p>
          <a:p>
            <a:br>
              <a:rPr lang="en-US" dirty="0">
                <a:solidFill>
                  <a:schemeClr val="tx1"/>
                </a:solidFill>
                <a:latin typeface="Corbel" pitchFamily="34" charset="0"/>
              </a:rPr>
            </a:br>
            <a:br>
              <a:rPr lang="en-US" dirty="0">
                <a:solidFill>
                  <a:schemeClr val="tx1"/>
                </a:solidFill>
                <a:latin typeface="Corbel" pitchFamily="34" charset="0"/>
              </a:rPr>
            </a:br>
            <a:endParaRPr lang="en-US" dirty="0">
              <a:solidFill>
                <a:schemeClr val="tx1"/>
              </a:solidFill>
              <a:latin typeface="Corbel" pitchFamily="34" charset="0"/>
            </a:endParaRPr>
          </a:p>
          <a:p>
            <a:br>
              <a:rPr lang="en-US" b="1" dirty="0">
                <a:solidFill>
                  <a:schemeClr val="tx1"/>
                </a:solidFill>
                <a:latin typeface="Corbel" pitchFamily="34" charset="0"/>
              </a:rPr>
            </a:br>
            <a:br>
              <a:rPr lang="en-US" b="1" dirty="0">
                <a:solidFill>
                  <a:schemeClr val="tx1"/>
                </a:solidFill>
                <a:latin typeface="Corbel" pitchFamily="34" charset="0"/>
              </a:rPr>
            </a:br>
            <a:br>
              <a:rPr lang="en-US" b="1" dirty="0">
                <a:solidFill>
                  <a:schemeClr val="tx1"/>
                </a:solidFill>
                <a:latin typeface="Corbel" pitchFamily="34" charset="0"/>
              </a:rPr>
            </a:br>
            <a:br>
              <a:rPr lang="en-US" b="1" dirty="0">
                <a:solidFill>
                  <a:schemeClr val="tx1"/>
                </a:solidFill>
                <a:latin typeface="Corbel" pitchFamily="34" charset="0"/>
              </a:rPr>
            </a:br>
            <a:br>
              <a:rPr lang="en-US" b="1" dirty="0">
                <a:solidFill>
                  <a:schemeClr val="tx1"/>
                </a:solidFill>
                <a:latin typeface="Corbel" pitchFamily="34" charset="0"/>
              </a:rPr>
            </a:br>
            <a:br>
              <a:rPr lang="en-US" b="1" dirty="0">
                <a:solidFill>
                  <a:schemeClr val="tx1"/>
                </a:solidFill>
                <a:latin typeface="Corbel" pitchFamily="34" charset="0"/>
              </a:rPr>
            </a:br>
            <a:br>
              <a:rPr lang="en-US" b="1" dirty="0">
                <a:solidFill>
                  <a:schemeClr val="tx1"/>
                </a:solidFill>
                <a:latin typeface="Corbel" pitchFamily="34" charset="0"/>
              </a:rPr>
            </a:br>
            <a:r>
              <a:rPr lang="fr-FR" b="1" dirty="0">
                <a:solidFill>
                  <a:schemeClr val="tx1"/>
                </a:solidFill>
                <a:latin typeface="Corbel" pitchFamily="34" charset="0"/>
              </a:rPr>
              <a:t>. Adaptabilité aux Besoins Changeants </a:t>
            </a:r>
            <a:r>
              <a:rPr lang="fr-FR" dirty="0">
                <a:solidFill>
                  <a:schemeClr val="tx1"/>
                </a:solidFill>
                <a:latin typeface="Corbel" pitchFamily="34" charset="0"/>
              </a:rPr>
              <a:t>: Dans un monde où les besoins informatiques évoluent rapidement, la virtualisation offre la capacité de s'adapter rapidement aux nouvelles exigences, ce qui est crucial pour rester compétitif.</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Sécurité et Isolation</a:t>
            </a:r>
            <a:r>
              <a:rPr lang="fr-FR" dirty="0">
                <a:solidFill>
                  <a:schemeClr val="tx1"/>
                </a:solidFill>
                <a:latin typeface="Corbel" pitchFamily="34" charset="0"/>
              </a:rPr>
              <a:t> : Avec l'augmentation des </a:t>
            </a:r>
            <a:r>
              <a:rPr lang="fr-FR" dirty="0" err="1">
                <a:solidFill>
                  <a:schemeClr val="tx1"/>
                </a:solidFill>
                <a:latin typeface="Corbel" pitchFamily="34" charset="0"/>
              </a:rPr>
              <a:t>cybermenaces</a:t>
            </a:r>
            <a:r>
              <a:rPr lang="fr-FR" dirty="0">
                <a:solidFill>
                  <a:schemeClr val="tx1"/>
                </a:solidFill>
                <a:latin typeface="Corbel" pitchFamily="34" charset="0"/>
              </a:rPr>
              <a:t>, la capacité de la virtualisation à isoler les environnements et à limiter les risques de sécurité est devenue un atout majeur.</a:t>
            </a:r>
            <a:br>
              <a:rPr lang="fr-FR" dirty="0">
                <a:solidFill>
                  <a:schemeClr val="tx1"/>
                </a:solidFill>
                <a:latin typeface="Corbel" pitchFamily="34" charset="0"/>
              </a:rPr>
            </a:br>
            <a:endParaRPr lang="fr-FR" dirty="0">
              <a:solidFill>
                <a:schemeClr val="tx1"/>
              </a:solidFill>
              <a:latin typeface="Corbel" pitchFamily="34" charset="0"/>
            </a:endParaRPr>
          </a:p>
          <a:p>
            <a:r>
              <a:rPr lang="fr-FR" dirty="0">
                <a:solidFill>
                  <a:schemeClr val="tx1"/>
                </a:solidFill>
                <a:latin typeface="Corbel" pitchFamily="34" charset="0"/>
              </a:rPr>
              <a:t>*Il existe deux types d’hyperviseur, mais avant tout c’est quoi un hyperviseur</a:t>
            </a:r>
          </a:p>
          <a:p>
            <a:br>
              <a:rPr lang="fr-FR" dirty="0">
                <a:solidFill>
                  <a:schemeClr val="tx1"/>
                </a:solidFill>
                <a:latin typeface="Corbel" pitchFamily="34" charset="0"/>
              </a:rPr>
            </a:br>
            <a:r>
              <a:rPr lang="fr-FR" dirty="0">
                <a:solidFill>
                  <a:schemeClr val="tx1"/>
                </a:solidFill>
                <a:latin typeface="Corbel" pitchFamily="34" charset="0"/>
              </a:rPr>
              <a:t>Un hyperviseur est une plate-forme de virtualisation qui permet à plusieurs systèmes d'exploitation de fonctionner en parallèle dans une seule machine physique.</a:t>
            </a:r>
            <a:br>
              <a:rPr lang="fr-FR" dirty="0">
                <a:solidFill>
                  <a:schemeClr val="tx1"/>
                </a:solidFill>
                <a:latin typeface="Corbel" pitchFamily="34" charset="0"/>
              </a:rPr>
            </a:br>
            <a:br>
              <a:rPr lang="fr-FR" dirty="0">
                <a:solidFill>
                  <a:schemeClr val="tx1"/>
                </a:solidFill>
                <a:latin typeface="Corbel" pitchFamily="34" charset="0"/>
              </a:rPr>
            </a:br>
            <a:r>
              <a:rPr lang="fr-FR" b="1" i="1" u="sng" dirty="0">
                <a:solidFill>
                  <a:schemeClr val="tx1"/>
                </a:solidFill>
                <a:latin typeface="Corbel" pitchFamily="34" charset="0"/>
              </a:rPr>
              <a:t>Il y a hyperviseur de type 1,et hyperviseur de type 2.</a:t>
            </a:r>
          </a:p>
          <a:p>
            <a:r>
              <a:rPr lang="fr-FR" dirty="0">
                <a:solidFill>
                  <a:schemeClr val="tx1"/>
                </a:solidFill>
                <a:latin typeface="Corbel" pitchFamily="34" charset="0"/>
              </a:rPr>
              <a:t>L'hyperviseur de type 1 repose sur le serveur matériel nu et a un accès direct aux ressources matérielles. Pour cette raison, l'hyperviseur de type 1 est également connu sous le nom d'hyperviseur matériel nu. En </a:t>
            </a:r>
            <a:r>
              <a:rPr lang="fr-FR" dirty="0" err="1">
                <a:solidFill>
                  <a:schemeClr val="tx1"/>
                </a:solidFill>
                <a:latin typeface="Corbel" pitchFamily="34" charset="0"/>
              </a:rPr>
              <a:t>revanche,l'hyperviseur</a:t>
            </a:r>
            <a:r>
              <a:rPr lang="fr-FR" dirty="0">
                <a:solidFill>
                  <a:schemeClr val="tx1"/>
                </a:solidFill>
                <a:latin typeface="Corbel" pitchFamily="34" charset="0"/>
              </a:rPr>
              <a:t> de type 2 est une application installée sur le système d'exploitation hôte.</a:t>
            </a:r>
            <a:br>
              <a:rPr lang="fr-FR" dirty="0">
                <a:solidFill>
                  <a:schemeClr val="tx1"/>
                </a:solidFill>
                <a:hlinkClick r:id="rId2"/>
              </a:rPr>
            </a:br>
            <a:endParaRPr lang="fr-FR" dirty="0">
              <a:solidFill>
                <a:schemeClr val="tx1"/>
              </a:solidFill>
            </a:endParaRPr>
          </a:p>
          <a:p>
            <a:endParaRPr lang="en-US" dirty="0">
              <a:solidFill>
                <a:schemeClr val="tx1"/>
              </a:solidFill>
            </a:endParaRPr>
          </a:p>
          <a:p>
            <a:br>
              <a:rPr lang="fr-FR" dirty="0">
                <a:solidFill>
                  <a:schemeClr val="tx1"/>
                </a:solidFill>
                <a:latin typeface="Corbel" pitchFamily="34" charset="0"/>
              </a:rPr>
            </a:br>
            <a:br>
              <a:rPr lang="fr-FR" dirty="0">
                <a:solidFill>
                  <a:schemeClr val="tx1"/>
                </a:solidFill>
                <a:latin typeface="Corbel" pitchFamily="34" charset="0"/>
              </a:rPr>
            </a:br>
            <a:br>
              <a:rPr lang="fr-FR" dirty="0">
                <a:solidFill>
                  <a:schemeClr val="tx1"/>
                </a:solidFill>
                <a:latin typeface="Corbel" pitchFamily="34" charset="0"/>
              </a:rPr>
            </a:br>
            <a:br>
              <a:rPr lang="fr-FR" dirty="0">
                <a:solidFill>
                  <a:schemeClr val="tx1"/>
                </a:solidFill>
                <a:latin typeface="Corbel" pitchFamily="34" charset="0"/>
              </a:rPr>
            </a:br>
            <a:br>
              <a:rPr lang="fr-FR" dirty="0">
                <a:solidFill>
                  <a:schemeClr val="tx1"/>
                </a:solidFill>
                <a:latin typeface="Corbel" pitchFamily="34" charset="0"/>
              </a:rPr>
            </a:br>
            <a:br>
              <a:rPr lang="fr-FR" dirty="0">
                <a:solidFill>
                  <a:schemeClr val="tx1"/>
                </a:solidFill>
                <a:latin typeface="Corbel" pitchFamily="34" charset="0"/>
              </a:rPr>
            </a:br>
            <a:endParaRPr lang="fr-FR" dirty="0">
              <a:solidFill>
                <a:schemeClr val="tx1"/>
              </a:solidFill>
              <a:latin typeface="Corbel" pitchFamily="34" charset="0"/>
            </a:endParaRPr>
          </a:p>
          <a:p>
            <a:br>
              <a:rPr lang="fr-FR" dirty="0">
                <a:solidFill>
                  <a:schemeClr val="tx1"/>
                </a:solidFill>
                <a:latin typeface="Corbel" pitchFamily="34" charset="0"/>
              </a:rPr>
            </a:br>
            <a:endParaRPr lang="fr-FR" dirty="0">
              <a:solidFill>
                <a:schemeClr val="tx1"/>
              </a:solidFill>
              <a:latin typeface="Corbel" pitchFamily="34" charset="0"/>
            </a:endParaRPr>
          </a:p>
          <a:p>
            <a:br>
              <a:rPr lang="fr-FR" dirty="0">
                <a:solidFill>
                  <a:schemeClr val="tx1"/>
                </a:solidFill>
                <a:latin typeface="Corbel" pitchFamily="34" charset="0"/>
              </a:rPr>
            </a:b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endParaRPr lang="en-US" dirty="0"/>
          </a:p>
        </p:txBody>
      </p:sp>
    </p:spTree>
    <p:extLst>
      <p:ext uri="{BB962C8B-B14F-4D97-AF65-F5344CB8AC3E}">
        <p14:creationId xmlns:p14="http://schemas.microsoft.com/office/powerpoint/2010/main" val="2533701014"/>
      </p:ext>
    </p:extLst>
  </p:cSld>
  <p:clrMapOvr>
    <a:masterClrMapping/>
  </p:clrMapOvr>
  <mc:AlternateContent xmlns:mc="http://schemas.openxmlformats.org/markup-compatibility/2006" xmlns:p14="http://schemas.microsoft.com/office/powerpoint/2010/main">
    <mc:Choice Requires="p14">
      <p:transition spd="slow" p14:dur="4000" advTm="55000">
        <p:push dir="u"/>
      </p:transition>
    </mc:Choice>
    <mc:Fallback xmlns="">
      <p:transition spd="slow" advTm="55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br>
              <a:rPr lang="fr-FR" sz="2800" dirty="0"/>
            </a:br>
            <a:endParaRPr lang="fr-FR" sz="2800" dirty="0">
              <a:solidFill>
                <a:schemeClr val="tx1"/>
              </a:solidFill>
              <a:latin typeface="Corbel" pitchFamily="34" charset="0"/>
            </a:endParaRPr>
          </a:p>
          <a:p>
            <a:pPr algn="ctr"/>
            <a:r>
              <a:rPr lang="fr-FR" sz="3200" dirty="0">
                <a:solidFill>
                  <a:schemeClr val="tx1"/>
                </a:solidFill>
                <a:latin typeface="Corbel" pitchFamily="34" charset="0"/>
              </a:rPr>
              <a:t>Voici les différents points que nous allons développés</a:t>
            </a:r>
            <a:br>
              <a:rPr lang="fr-FR" sz="2800" dirty="0">
                <a:solidFill>
                  <a:schemeClr val="tx1"/>
                </a:solidFill>
                <a:latin typeface="Corbel" pitchFamily="34" charset="0"/>
              </a:rPr>
            </a:br>
            <a:br>
              <a:rPr lang="fr-FR" sz="2000" dirty="0">
                <a:solidFill>
                  <a:schemeClr val="tx1"/>
                </a:solidFill>
                <a:latin typeface="Corbel" pitchFamily="34" charset="0"/>
              </a:rPr>
            </a:br>
            <a:r>
              <a:rPr lang="fr-FR" sz="2400" b="1" u="sng" dirty="0">
                <a:solidFill>
                  <a:schemeClr val="tx1"/>
                </a:solidFill>
                <a:latin typeface="Bahnschrift Light SemiCondensed" pitchFamily="34" charset="0"/>
              </a:rPr>
              <a:t>Bienfaits de la Virtualisation</a:t>
            </a:r>
          </a:p>
          <a:p>
            <a:pPr algn="ctr"/>
            <a:r>
              <a:rPr lang="fr-FR" sz="2400" b="1" u="sng" dirty="0">
                <a:solidFill>
                  <a:schemeClr val="tx1"/>
                </a:solidFill>
                <a:latin typeface="Bahnschrift Light SemiCondensed" pitchFamily="34" charset="0"/>
              </a:rPr>
              <a:t>Méfaits de la Virtualisation</a:t>
            </a:r>
            <a:br>
              <a:rPr lang="fr-FR" sz="2400" b="1" u="sng" dirty="0">
                <a:solidFill>
                  <a:schemeClr val="tx1"/>
                </a:solidFill>
                <a:latin typeface="Bahnschrift Light SemiCondensed" pitchFamily="34" charset="0"/>
              </a:rPr>
            </a:br>
            <a:r>
              <a:rPr lang="fr-FR" sz="2400" b="1" u="sng" dirty="0">
                <a:solidFill>
                  <a:schemeClr val="tx1"/>
                </a:solidFill>
                <a:latin typeface="Bahnschrift Light SemiCondensed" pitchFamily="34" charset="0"/>
              </a:rPr>
              <a:t> Son rôle dans le Monde Actuel</a:t>
            </a:r>
            <a:endParaRPr lang="en-US" sz="2400" dirty="0">
              <a:solidFill>
                <a:schemeClr val="tx1"/>
              </a:solidFill>
              <a:latin typeface="Bahnschrift Light SemiCondensed" pitchFamily="34" charset="0"/>
            </a:endParaRPr>
          </a:p>
          <a:p>
            <a:pPr algn="ctr"/>
            <a:br>
              <a:rPr lang="fr-FR" sz="2400" b="1" u="sng" dirty="0">
                <a:solidFill>
                  <a:schemeClr val="tx1"/>
                </a:solidFill>
                <a:latin typeface="Bahnschrift Light SemiCondensed" pitchFamily="34" charset="0"/>
              </a:rPr>
            </a:br>
            <a:endParaRPr lang="en-US" sz="2400" dirty="0">
              <a:solidFill>
                <a:schemeClr val="tx1"/>
              </a:solidFill>
              <a:latin typeface="Bahnschrift Light SemiCondensed" pitchFamily="34" charset="0"/>
            </a:endParaRPr>
          </a:p>
          <a:p>
            <a:pPr algn="ctr"/>
            <a:br>
              <a:rPr lang="fr-FR" sz="2000" b="1" u="sng" dirty="0"/>
            </a:br>
            <a:br>
              <a:rPr lang="fr-FR" sz="2000" dirty="0">
                <a:solidFill>
                  <a:schemeClr val="tx1"/>
                </a:solidFill>
              </a:rPr>
            </a:br>
            <a:endParaRPr lang="en-US" sz="2000" dirty="0">
              <a:solidFill>
                <a:schemeClr val="tx1"/>
              </a:solidFill>
            </a:endParaRPr>
          </a:p>
          <a:p>
            <a:pPr algn="ctr"/>
            <a:endParaRPr lang="en-US" dirty="0"/>
          </a:p>
        </p:txBody>
      </p:sp>
    </p:spTree>
    <p:extLst>
      <p:ext uri="{BB962C8B-B14F-4D97-AF65-F5344CB8AC3E}">
        <p14:creationId xmlns:p14="http://schemas.microsoft.com/office/powerpoint/2010/main" val="2339911916"/>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br>
              <a:rPr lang="fr-FR" sz="1600" dirty="0">
                <a:solidFill>
                  <a:schemeClr val="tx1"/>
                </a:solidFill>
              </a:rPr>
            </a:br>
            <a:br>
              <a:rPr lang="fr-FR" sz="1600" dirty="0">
                <a:solidFill>
                  <a:schemeClr val="tx1"/>
                </a:solidFill>
              </a:rPr>
            </a:br>
            <a:br>
              <a:rPr lang="fr-FR" sz="1600" dirty="0">
                <a:solidFill>
                  <a:schemeClr val="tx1"/>
                </a:solidFill>
              </a:rPr>
            </a:br>
            <a:r>
              <a:rPr lang="fr-FR" b="1" u="sng" dirty="0">
                <a:solidFill>
                  <a:schemeClr val="tx1"/>
                </a:solidFill>
                <a:latin typeface="Bahnschrift Light SemiCondensed" pitchFamily="34" charset="0"/>
              </a:rPr>
              <a:t>Bienfaits de la Virtualisation</a:t>
            </a:r>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r>
              <a:rPr lang="fr-FR" b="1" dirty="0">
                <a:solidFill>
                  <a:schemeClr val="tx1"/>
                </a:solidFill>
                <a:latin typeface="Corbel" pitchFamily="34" charset="0"/>
              </a:rPr>
              <a:t>. Optimisation des Ressources </a:t>
            </a:r>
            <a:r>
              <a:rPr lang="fr-FR" dirty="0">
                <a:solidFill>
                  <a:schemeClr val="tx1"/>
                </a:solidFill>
                <a:latin typeface="Corbel" pitchFamily="34" charset="0"/>
              </a:rPr>
              <a:t>: La virtualisation permet une meilleure utilisation des ressources matérielles en exécutant plusieurs machines virtuelles sur un seul serveur physique, réduisant ainsi les coûts liés à l'achat et à la maintenance des matériels.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Flexibilité et Agilité </a:t>
            </a:r>
            <a:r>
              <a:rPr lang="fr-FR" dirty="0">
                <a:solidFill>
                  <a:schemeClr val="tx1"/>
                </a:solidFill>
                <a:latin typeface="Corbel" pitchFamily="34" charset="0"/>
              </a:rPr>
              <a:t>: Les machines virtuelles peuvent être facilement créées, modifiées, déplacées ou supprimées, ce qui permet aux entreprises de s'adapter rapidement aux changements de besoins.</a:t>
            </a:r>
          </a:p>
          <a:p>
            <a:endParaRPr lang="en-US" dirty="0">
              <a:solidFill>
                <a:schemeClr val="tx1"/>
              </a:solidFill>
              <a:latin typeface="Corbel" pitchFamily="34" charset="0"/>
            </a:endParaRPr>
          </a:p>
          <a:p>
            <a:r>
              <a:rPr lang="fr-FR" dirty="0">
                <a:solidFill>
                  <a:schemeClr val="tx1"/>
                </a:solidFill>
                <a:latin typeface="Corbel" pitchFamily="34" charset="0"/>
              </a:rPr>
              <a:t>. </a:t>
            </a:r>
            <a:r>
              <a:rPr lang="fr-FR" b="1" dirty="0">
                <a:solidFill>
                  <a:schemeClr val="tx1"/>
                </a:solidFill>
                <a:latin typeface="Corbel" pitchFamily="34" charset="0"/>
              </a:rPr>
              <a:t>Économies d'Énergie </a:t>
            </a:r>
            <a:r>
              <a:rPr lang="fr-FR" dirty="0">
                <a:solidFill>
                  <a:schemeClr val="tx1"/>
                </a:solidFill>
                <a:latin typeface="Corbel" pitchFamily="34" charset="0"/>
              </a:rPr>
              <a:t>: En consolidant plusieurs serveurs physiques en un seul, la virtualisation réduit la consommation d'énergie et l'empreinte du carbone des centres de données.</a:t>
            </a:r>
          </a:p>
          <a:p>
            <a:endParaRPr lang="en-US" dirty="0">
              <a:solidFill>
                <a:schemeClr val="tx1"/>
              </a:solidFill>
              <a:latin typeface="Corbel" pitchFamily="34" charset="0"/>
            </a:endParaRPr>
          </a:p>
          <a:p>
            <a:r>
              <a:rPr lang="fr-FR" dirty="0">
                <a:solidFill>
                  <a:schemeClr val="tx1"/>
                </a:solidFill>
                <a:latin typeface="Corbel" pitchFamily="34" charset="0"/>
              </a:rPr>
              <a:t>.</a:t>
            </a:r>
            <a:r>
              <a:rPr lang="fr-FR" b="1" dirty="0">
                <a:solidFill>
                  <a:schemeClr val="tx1"/>
                </a:solidFill>
                <a:latin typeface="Corbel" pitchFamily="34" charset="0"/>
              </a:rPr>
              <a:t> Sécurité et Isolation :</a:t>
            </a:r>
            <a:r>
              <a:rPr lang="fr-FR" dirty="0">
                <a:solidFill>
                  <a:schemeClr val="tx1"/>
                </a:solidFill>
                <a:latin typeface="Corbel" pitchFamily="34" charset="0"/>
              </a:rPr>
              <a:t> Chaque machine virtuelle est isolée des autres, ce qui signifie qu'une faille de sécurité dans une VM n'affecte pas les autres. Cela améliore la sécurité globale des systèmes.</a:t>
            </a:r>
            <a:endParaRPr lang="en-US" dirty="0">
              <a:solidFill>
                <a:schemeClr val="tx1"/>
              </a:solidFill>
              <a:latin typeface="Corbel" pitchFamily="34" charset="0"/>
            </a:endParaRPr>
          </a:p>
          <a:p>
            <a:r>
              <a:rPr lang="fr-FR" dirty="0">
                <a:solidFill>
                  <a:schemeClr val="tx1"/>
                </a:solidFill>
              </a:rPr>
              <a:t> </a:t>
            </a:r>
            <a:endParaRPr lang="en-US" dirty="0">
              <a:solidFill>
                <a:schemeClr val="tx1"/>
              </a:solidFill>
            </a:endParaRPr>
          </a:p>
          <a:p>
            <a:pPr lvl="0"/>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endParaRPr lang="fr-FR" b="1" u="sng" dirty="0">
              <a:solidFill>
                <a:schemeClr val="tx1"/>
              </a:solidFill>
              <a:latin typeface="Bahnschrift Light SemiCondensed" pitchFamily="34" charset="0"/>
            </a:endParaRPr>
          </a:p>
        </p:txBody>
      </p:sp>
    </p:spTree>
    <p:extLst>
      <p:ext uri="{BB962C8B-B14F-4D97-AF65-F5344CB8AC3E}">
        <p14:creationId xmlns:p14="http://schemas.microsoft.com/office/powerpoint/2010/main" val="2851059579"/>
      </p:ext>
    </p:extLst>
  </p:cSld>
  <p:clrMapOvr>
    <a:masterClrMapping/>
  </p:clrMapOvr>
  <mc:AlternateContent xmlns:mc="http://schemas.openxmlformats.org/markup-compatibility/2006" xmlns:p14="http://schemas.microsoft.com/office/powerpoint/2010/main">
    <mc:Choice Requires="p14">
      <p:transition spd="slow" p14:dur="4000" advTm="50000"/>
    </mc:Choice>
    <mc:Fallback xmlns="">
      <p:transition spd="slow" advTm="5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chemeClr val="tx1"/>
                </a:solidFill>
                <a:latin typeface="Corbel" pitchFamily="34" charset="0"/>
              </a:rPr>
              <a:t>. </a:t>
            </a:r>
            <a:r>
              <a:rPr lang="fr-FR" b="1" dirty="0">
                <a:solidFill>
                  <a:schemeClr val="tx1"/>
                </a:solidFill>
                <a:latin typeface="Corbel" pitchFamily="34" charset="0"/>
              </a:rPr>
              <a:t>Facilité de Sauvegarde et de Récupération </a:t>
            </a:r>
            <a:r>
              <a:rPr lang="fr-FR" sz="2000" dirty="0">
                <a:solidFill>
                  <a:schemeClr val="tx1"/>
                </a:solidFill>
                <a:latin typeface="Corbel" pitchFamily="34" charset="0"/>
              </a:rPr>
              <a:t>: </a:t>
            </a:r>
            <a:r>
              <a:rPr lang="fr-FR" dirty="0">
                <a:solidFill>
                  <a:schemeClr val="tx1"/>
                </a:solidFill>
                <a:latin typeface="Corbel" pitchFamily="34" charset="0"/>
              </a:rPr>
              <a:t>Les machines virtuelles peuvent être facilement sauvegardées, restaurées ou migrées vers d'autres serveurs physiques, ce qui simplifie la gestion des données et la reprise après sinistre.</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sz="1600" dirty="0">
                <a:solidFill>
                  <a:schemeClr val="tx1"/>
                </a:solidFill>
                <a:latin typeface="Corbel" pitchFamily="34" charset="0"/>
              </a:rPr>
              <a:t>Mais comme dans toutes les domaines  s’il y a des bienfaits(avantages) comme on vient de vous le montrer il y a aussi des méfaits(désavantages)</a:t>
            </a:r>
            <a:br>
              <a:rPr lang="fr-FR" sz="1600" dirty="0">
                <a:solidFill>
                  <a:schemeClr val="tx1"/>
                </a:solidFill>
                <a:latin typeface="Corbel" pitchFamily="34" charset="0"/>
              </a:rPr>
            </a:br>
            <a:br>
              <a:rPr lang="fr-FR" sz="1600" dirty="0">
                <a:solidFill>
                  <a:schemeClr val="tx1"/>
                </a:solidFill>
                <a:latin typeface="Corbel" pitchFamily="34" charset="0"/>
              </a:rPr>
            </a:br>
            <a:br>
              <a:rPr lang="fr-FR" sz="1600" dirty="0">
                <a:solidFill>
                  <a:schemeClr val="tx1"/>
                </a:solidFill>
                <a:latin typeface="Corbel" pitchFamily="34" charset="0"/>
              </a:rPr>
            </a:br>
            <a:r>
              <a:rPr lang="fr-FR" sz="1600" dirty="0">
                <a:solidFill>
                  <a:schemeClr val="tx1"/>
                </a:solidFill>
                <a:latin typeface="Corbel" pitchFamily="34" charset="0"/>
              </a:rPr>
              <a:t>.</a:t>
            </a:r>
            <a:endParaRPr lang="en-US" sz="1600" dirty="0">
              <a:solidFill>
                <a:schemeClr val="tx1"/>
              </a:solidFill>
              <a:latin typeface="Corbel" pitchFamily="34" charset="0"/>
            </a:endParaRPr>
          </a:p>
          <a:p>
            <a:br>
              <a:rPr lang="fr-FR" sz="1600" u="sng" dirty="0">
                <a:solidFill>
                  <a:schemeClr val="tx1"/>
                </a:solidFill>
                <a:latin typeface="Corbel" pitchFamily="34" charset="0"/>
              </a:rPr>
            </a:br>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br>
              <a:rPr lang="fr-FR" b="1" u="sng" dirty="0">
                <a:solidFill>
                  <a:schemeClr val="tx1"/>
                </a:solidFill>
                <a:latin typeface="Bahnschrift Light SemiCondensed" pitchFamily="34" charset="0"/>
              </a:rPr>
            </a:br>
            <a:endParaRPr lang="fr-FR" b="1" u="sng" dirty="0">
              <a:solidFill>
                <a:schemeClr val="tx1"/>
              </a:solidFill>
              <a:latin typeface="Bahnschrift Light SemiCondensed" pitchFamily="34" charset="0"/>
            </a:endParaRPr>
          </a:p>
        </p:txBody>
      </p:sp>
      <p:pic>
        <p:nvPicPr>
          <p:cNvPr id="3" name="Picture 8" descr="Virtualization Icon For Virtual Machines - Openclipart"/>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5508104" y="3305137"/>
            <a:ext cx="3096343" cy="2797179"/>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pic>
        <p:nvPicPr>
          <p:cNvPr id="4" name="Picture 8" descr="Virtualization Icon For Virtual Machines - Openclipart"/>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467544" y="3253683"/>
            <a:ext cx="3096343" cy="2797179"/>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749692"/>
      </p:ext>
    </p:extLst>
  </p:cSld>
  <p:clrMapOvr>
    <a:masterClrMapping/>
  </p:clrMapOvr>
  <p:transition spd="slow" advTm="30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Virtualization Icon For Virtual Machines - Openclipar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Virtualization Icon For Virtual Machines - Openclipar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Virtualization Icon For Virtual Machines - Openclipar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b="1" u="sng" dirty="0">
                <a:solidFill>
                  <a:schemeClr val="tx1"/>
                </a:solidFill>
                <a:latin typeface="Bahnschrift Light SemiCondensed" pitchFamily="34" charset="0"/>
              </a:rPr>
              <a:t>Méfaits de la Virtualisation</a:t>
            </a:r>
          </a:p>
          <a:p>
            <a:endParaRPr lang="fr-FR" b="1" u="sng" dirty="0">
              <a:solidFill>
                <a:schemeClr val="tx1"/>
              </a:solidFill>
              <a:latin typeface="Bahnschrift Light SemiCondensed" pitchFamily="34" charset="0"/>
            </a:endParaRPr>
          </a:p>
          <a:p>
            <a:r>
              <a:rPr lang="fr-FR" dirty="0">
                <a:solidFill>
                  <a:schemeClr val="tx1"/>
                </a:solidFill>
              </a:rPr>
              <a:t>.</a:t>
            </a:r>
            <a:r>
              <a:rPr lang="fr-FR" b="1" dirty="0">
                <a:solidFill>
                  <a:schemeClr val="tx1"/>
                </a:solidFill>
              </a:rPr>
              <a:t> </a:t>
            </a:r>
            <a:r>
              <a:rPr lang="fr-FR" b="1" dirty="0">
                <a:solidFill>
                  <a:schemeClr val="tx1"/>
                </a:solidFill>
                <a:latin typeface="Corbel" pitchFamily="34" charset="0"/>
              </a:rPr>
              <a:t>Complexité de Gestion</a:t>
            </a:r>
            <a:r>
              <a:rPr lang="fr-FR" dirty="0">
                <a:solidFill>
                  <a:schemeClr val="tx1"/>
                </a:solidFill>
                <a:latin typeface="Corbel" pitchFamily="34" charset="0"/>
              </a:rPr>
              <a:t> : Bien que la virtualisation simplifie certaines tâches, elle peut également introduire une complexité supplémentaire dans la gestion des infrastructures, notamment en ce qui concerne la configuration et la surveillance des hyperviseurs.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Dépendance à l'Égard du Matériel</a:t>
            </a:r>
            <a:r>
              <a:rPr lang="fr-FR" dirty="0">
                <a:solidFill>
                  <a:schemeClr val="tx1"/>
                </a:solidFill>
                <a:latin typeface="Corbel" pitchFamily="34" charset="0"/>
              </a:rPr>
              <a:t> : La virtualisation repose sur un matériel physique sous-jacent. Si ce matériel tombe en panne, toutes les machines virtuelles qui y sont hébergées peuvent être affectées.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dirty="0">
                <a:solidFill>
                  <a:schemeClr val="tx1"/>
                </a:solidFill>
                <a:latin typeface="Corbel" pitchFamily="34" charset="0"/>
              </a:rPr>
              <a:t>. </a:t>
            </a:r>
            <a:r>
              <a:rPr lang="fr-FR" b="1" dirty="0">
                <a:solidFill>
                  <a:schemeClr val="tx1"/>
                </a:solidFill>
                <a:latin typeface="Corbel" pitchFamily="34" charset="0"/>
              </a:rPr>
              <a:t>Surcharge des Ressources</a:t>
            </a:r>
            <a:r>
              <a:rPr lang="fr-FR" dirty="0">
                <a:solidFill>
                  <a:schemeClr val="tx1"/>
                </a:solidFill>
                <a:latin typeface="Corbel" pitchFamily="34" charset="0"/>
              </a:rPr>
              <a:t> : Si trop de machines virtuelles sont exécutées sur un seul serveur physique, cela peut entraîner une surcharge des ressources, ce qui peut dégrader les performances.</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dirty="0">
                <a:solidFill>
                  <a:schemeClr val="tx1"/>
                </a:solidFill>
                <a:latin typeface="Corbel" pitchFamily="34" charset="0"/>
              </a:rPr>
              <a:t>. </a:t>
            </a:r>
            <a:r>
              <a:rPr lang="fr-FR" b="1" dirty="0">
                <a:solidFill>
                  <a:schemeClr val="tx1"/>
                </a:solidFill>
                <a:latin typeface="Corbel" pitchFamily="34" charset="0"/>
              </a:rPr>
              <a:t>Coûts Initiaux</a:t>
            </a:r>
            <a:r>
              <a:rPr lang="fr-FR" dirty="0">
                <a:solidFill>
                  <a:schemeClr val="tx1"/>
                </a:solidFill>
                <a:latin typeface="Corbel" pitchFamily="34" charset="0"/>
              </a:rPr>
              <a:t> : Bien que la virtualisation puisse réduire les coûts à long terme, l'implémentation initiale peut être coûteuse, notamment en termes de logiciels et de formation du personnel.</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endParaRPr lang="fr-FR" b="1" u="sng" dirty="0">
              <a:solidFill>
                <a:schemeClr val="tx1"/>
              </a:solidFill>
              <a:latin typeface="Bahnschrift Light SemiCondensed" pitchFamily="34" charset="0"/>
            </a:endParaRPr>
          </a:p>
          <a:p>
            <a:endParaRPr lang="fr-FR" b="1" u="sng" dirty="0">
              <a:solidFill>
                <a:schemeClr val="tx1"/>
              </a:solidFill>
              <a:latin typeface="Bahnschrift Light SemiCondensed" pitchFamily="34" charset="0"/>
            </a:endParaRPr>
          </a:p>
        </p:txBody>
      </p:sp>
      <p:sp>
        <p:nvSpPr>
          <p:cNvPr id="5" name="AutoShape 2" descr="Avantages De La Virtualisation Pour L'évolutivité - FasterCapital"/>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Avantages De La Virtualisation Pour L'évolutivité - FasterCapital"/>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Avantages De La Virtualisation Pour L'évolutivité - FasterCapital"/>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8" descr="Avantages De La Virtualisation Pour L'évolutivité - FasterCapital"/>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10" descr="Avantages De La Virtualisation Pour L'évolutivité - FasterCapital"/>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vantages De La Virtualisation Pour L'évolutivité - FasterCapital"/>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4218693"/>
      </p:ext>
    </p:extLst>
  </p:cSld>
  <p:clrMapOvr>
    <a:masterClrMapping/>
  </p:clrMapOvr>
  <p:transition spd="slow" advTm="50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br>
              <a:rPr lang="fr-FR" b="1" u="sng" dirty="0">
                <a:solidFill>
                  <a:schemeClr val="tx1"/>
                </a:solidFill>
                <a:latin typeface="Corbel" pitchFamily="34" charset="0"/>
              </a:rPr>
            </a:br>
            <a:br>
              <a:rPr lang="fr-FR" b="1" u="sng" dirty="0">
                <a:solidFill>
                  <a:schemeClr val="tx1"/>
                </a:solidFill>
                <a:latin typeface="Corbel" pitchFamily="34" charset="0"/>
              </a:rPr>
            </a:br>
            <a:r>
              <a:rPr lang="fr-FR" b="1" u="sng" dirty="0">
                <a:solidFill>
                  <a:schemeClr val="tx1"/>
                </a:solidFill>
                <a:latin typeface="Corbel" pitchFamily="34" charset="0"/>
              </a:rPr>
              <a:t>Rôle dans le Monde Actuel</a:t>
            </a:r>
            <a:br>
              <a:rPr lang="fr-FR" b="1" u="sng" dirty="0">
                <a:solidFill>
                  <a:schemeClr val="tx1"/>
                </a:solidFill>
                <a:latin typeface="Corbel" pitchFamily="34" charset="0"/>
              </a:rPr>
            </a:br>
            <a:endParaRPr lang="en-US" dirty="0">
              <a:solidFill>
                <a:schemeClr val="tx1"/>
              </a:solidFill>
              <a:latin typeface="Corbel" pitchFamily="34" charset="0"/>
            </a:endParaRPr>
          </a:p>
          <a:p>
            <a:r>
              <a:rPr lang="fr-FR" dirty="0">
                <a:solidFill>
                  <a:schemeClr val="tx1"/>
                </a:solidFill>
                <a:latin typeface="Corbel" pitchFamily="34" charset="0"/>
              </a:rPr>
              <a:t>La virtualisation joue un rôle crucial dans l'informatique moderne, notamment dans les domaines suivants :</a:t>
            </a:r>
            <a:br>
              <a:rPr lang="fr-FR" dirty="0">
                <a:solidFill>
                  <a:schemeClr val="tx1"/>
                </a:solidFill>
                <a:latin typeface="Corbel" pitchFamily="34" charset="0"/>
              </a:rPr>
            </a:br>
            <a:endParaRPr lang="en-US" dirty="0">
              <a:solidFill>
                <a:schemeClr val="tx1"/>
              </a:solidFill>
              <a:latin typeface="Corbel" pitchFamily="34" charset="0"/>
            </a:endParaRPr>
          </a:p>
          <a:p>
            <a:r>
              <a:rPr lang="fr-FR" b="1" dirty="0">
                <a:solidFill>
                  <a:schemeClr val="tx1"/>
                </a:solidFill>
                <a:latin typeface="Corbel" pitchFamily="34" charset="0"/>
              </a:rPr>
              <a:t>. Cloud </a:t>
            </a:r>
            <a:r>
              <a:rPr lang="fr-FR" b="1" dirty="0" err="1">
                <a:solidFill>
                  <a:schemeClr val="tx1"/>
                </a:solidFill>
                <a:latin typeface="Corbel" pitchFamily="34" charset="0"/>
              </a:rPr>
              <a:t>Computing</a:t>
            </a:r>
            <a:r>
              <a:rPr lang="fr-FR" dirty="0">
                <a:solidFill>
                  <a:schemeClr val="tx1"/>
                </a:solidFill>
                <a:latin typeface="Corbel" pitchFamily="34" charset="0"/>
              </a:rPr>
              <a:t> : La virtualisation est à la base du </a:t>
            </a:r>
            <a:r>
              <a:rPr lang="fr-FR" dirty="0" err="1">
                <a:solidFill>
                  <a:schemeClr val="tx1"/>
                </a:solidFill>
                <a:latin typeface="Corbel" pitchFamily="34" charset="0"/>
              </a:rPr>
              <a:t>cloud</a:t>
            </a:r>
            <a:r>
              <a:rPr lang="fr-FR" dirty="0">
                <a:solidFill>
                  <a:schemeClr val="tx1"/>
                </a:solidFill>
                <a:latin typeface="Corbel" pitchFamily="34" charset="0"/>
              </a:rPr>
              <a:t> </a:t>
            </a:r>
            <a:r>
              <a:rPr lang="fr-FR" dirty="0" err="1">
                <a:solidFill>
                  <a:schemeClr val="tx1"/>
                </a:solidFill>
                <a:latin typeface="Corbel" pitchFamily="34" charset="0"/>
              </a:rPr>
              <a:t>computing</a:t>
            </a:r>
            <a:r>
              <a:rPr lang="fr-FR" dirty="0">
                <a:solidFill>
                  <a:schemeClr val="tx1"/>
                </a:solidFill>
                <a:latin typeface="Corbel" pitchFamily="34" charset="0"/>
              </a:rPr>
              <a:t>, permettant aux fournisseurs de services </a:t>
            </a:r>
            <a:r>
              <a:rPr lang="fr-FR" dirty="0" err="1">
                <a:solidFill>
                  <a:schemeClr val="tx1"/>
                </a:solidFill>
                <a:latin typeface="Corbel" pitchFamily="34" charset="0"/>
              </a:rPr>
              <a:t>cloud</a:t>
            </a:r>
            <a:r>
              <a:rPr lang="fr-FR" dirty="0">
                <a:solidFill>
                  <a:schemeClr val="tx1"/>
                </a:solidFill>
                <a:latin typeface="Corbel" pitchFamily="34" charset="0"/>
              </a:rPr>
              <a:t> d'offrir des ressources informatiques à la demande, telles que des serveurs virtuels, du stockage et des réseaux.</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Centres de Données</a:t>
            </a:r>
            <a:r>
              <a:rPr lang="fr-FR" dirty="0">
                <a:solidFill>
                  <a:schemeClr val="tx1"/>
                </a:solidFill>
                <a:latin typeface="Corbel" pitchFamily="34" charset="0"/>
              </a:rPr>
              <a:t> : Les centres de données modernes utilisent massivement la virtualisation pour optimiser l'utilisation des serveurs, réduire les coûts et améliorer l'efficacité énergétique.</a:t>
            </a:r>
            <a:endParaRPr lang="en-US" dirty="0">
              <a:solidFill>
                <a:schemeClr val="tx1"/>
              </a:solidFill>
              <a:latin typeface="Corbel" pitchFamily="34" charset="0"/>
            </a:endParaRPr>
          </a:p>
          <a:p>
            <a:r>
              <a:rPr lang="fr-FR" dirty="0">
                <a:solidFill>
                  <a:schemeClr val="tx1"/>
                </a:solidFill>
                <a:latin typeface="Corbel" pitchFamily="34" charset="0"/>
              </a:rPr>
              <a:t> </a:t>
            </a:r>
            <a:endParaRPr lang="en-US" dirty="0">
              <a:solidFill>
                <a:schemeClr val="tx1"/>
              </a:solidFill>
              <a:latin typeface="Corbel" pitchFamily="34" charset="0"/>
            </a:endParaRPr>
          </a:p>
          <a:p>
            <a:r>
              <a:rPr lang="fr-FR" b="1" dirty="0">
                <a:solidFill>
                  <a:schemeClr val="tx1"/>
                </a:solidFill>
                <a:latin typeface="Corbel" pitchFamily="34" charset="0"/>
              </a:rPr>
              <a:t>. Développement et Test</a:t>
            </a:r>
            <a:r>
              <a:rPr lang="fr-FR" dirty="0">
                <a:solidFill>
                  <a:schemeClr val="tx1"/>
                </a:solidFill>
                <a:latin typeface="Corbel" pitchFamily="34" charset="0"/>
              </a:rPr>
              <a:t> : Les développeurs utilisent des machines virtuelles pour créer des environnements de test isolés, ce qui permet de tester des applications dans différentes configurations sans affecter les systèmes de production.</a:t>
            </a:r>
            <a:endParaRPr lang="en-US" dirty="0">
              <a:solidFill>
                <a:schemeClr val="tx1"/>
              </a:solidFill>
              <a:latin typeface="Corbel" pitchFamily="34" charset="0"/>
            </a:endParaRPr>
          </a:p>
          <a:p>
            <a:br>
              <a:rPr lang="fr-FR" b="1" dirty="0">
                <a:solidFill>
                  <a:schemeClr val="tx1"/>
                </a:solidFill>
                <a:latin typeface="Corbel" pitchFamily="34" charset="0"/>
              </a:rPr>
            </a:br>
            <a:r>
              <a:rPr lang="fr-FR" b="1" dirty="0">
                <a:solidFill>
                  <a:schemeClr val="tx1"/>
                </a:solidFill>
                <a:latin typeface="Corbel" pitchFamily="34" charset="0"/>
              </a:rPr>
              <a:t>.Continuité des Activités</a:t>
            </a:r>
            <a:r>
              <a:rPr lang="fr-FR" dirty="0">
                <a:solidFill>
                  <a:schemeClr val="tx1"/>
                </a:solidFill>
                <a:latin typeface="Corbel" pitchFamily="34" charset="0"/>
              </a:rPr>
              <a:t> : La virtualisation facilite la mise en place de solutions de reprise après sinistre, permettant aux entreprises de restaurer rapidement leurs systèmes en cas de panne.</a:t>
            </a:r>
            <a:endParaRPr lang="en-US" dirty="0">
              <a:solidFill>
                <a:schemeClr val="tx1"/>
              </a:solidFill>
              <a:latin typeface="Corbel" pitchFamily="34" charset="0"/>
            </a:endParaRPr>
          </a:p>
          <a:p>
            <a:r>
              <a:rPr lang="fr-FR" b="1" dirty="0">
                <a:solidFill>
                  <a:schemeClr val="tx1"/>
                </a:solidFill>
                <a:latin typeface="Corbel" pitchFamily="34" charset="0"/>
              </a:rPr>
              <a:t> </a:t>
            </a:r>
            <a:endParaRPr lang="en-US" dirty="0">
              <a:solidFill>
                <a:schemeClr val="tx1"/>
              </a:solidFill>
              <a:latin typeface="Corbel" pitchFamily="34" charset="0"/>
            </a:endParaRPr>
          </a:p>
          <a:p>
            <a:endParaRPr lang="fr-FR" b="1" u="sng" dirty="0">
              <a:solidFill>
                <a:schemeClr val="tx1"/>
              </a:solidFill>
              <a:latin typeface="Bahnschrift Light SemiCondensed" pitchFamily="34" charset="0"/>
            </a:endParaRPr>
          </a:p>
        </p:txBody>
      </p:sp>
    </p:spTree>
    <p:extLst>
      <p:ext uri="{BB962C8B-B14F-4D97-AF65-F5344CB8AC3E}">
        <p14:creationId xmlns:p14="http://schemas.microsoft.com/office/powerpoint/2010/main" val="2437911965"/>
      </p:ext>
    </p:extLst>
  </p:cSld>
  <p:clrMapOvr>
    <a:masterClrMapping/>
  </p:clrMapOvr>
  <p:transition spd="slow" advTm="5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8208912" cy="5832648"/>
          </a:xfrm>
          <a:prstGeom prst="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En conclusion, la virtualisation est un pilier essentiel de l’informatique moderne, offrant des avantages significatifs en termes d’efficacité, de flexibilité et de sécurité tout en jouant un rôle clé dans le soutien des technologies futures.  </a:t>
            </a:r>
            <a:br>
              <a:rPr lang="fr-FR" dirty="0">
                <a:solidFill>
                  <a:schemeClr val="tx1"/>
                </a:solidFill>
              </a:rPr>
            </a:br>
            <a:br>
              <a:rPr lang="fr-FR" dirty="0">
                <a:solidFill>
                  <a:schemeClr val="tx1"/>
                </a:solidFill>
              </a:rPr>
            </a:br>
            <a:br>
              <a:rPr lang="fr-FR" dirty="0">
                <a:solidFill>
                  <a:schemeClr val="tx1"/>
                </a:solidFill>
              </a:rPr>
            </a:br>
            <a:br>
              <a:rPr lang="fr-FR" dirty="0">
                <a:solidFill>
                  <a:schemeClr val="tx1"/>
                </a:solidFill>
              </a:rPr>
            </a:br>
            <a:br>
              <a:rPr lang="fr-FR" dirty="0">
                <a:solidFill>
                  <a:schemeClr val="tx1"/>
                </a:solidFill>
              </a:rPr>
            </a:br>
            <a:endParaRPr lang="fr-FR" dirty="0">
              <a:solidFill>
                <a:schemeClr val="tx1"/>
              </a:solidFill>
            </a:endParaRPr>
          </a:p>
          <a:p>
            <a:endParaRPr lang="fr-FR" dirty="0">
              <a:solidFill>
                <a:schemeClr val="tx1"/>
              </a:solidFill>
            </a:endParaRPr>
          </a:p>
          <a:p>
            <a:endParaRPr lang="fr-FR" dirty="0">
              <a:solidFill>
                <a:schemeClr val="tx1"/>
              </a:solidFill>
            </a:endParaRPr>
          </a:p>
          <a:p>
            <a:endParaRPr lang="fr-FR" dirty="0">
              <a:solidFill>
                <a:schemeClr val="tx1"/>
              </a:solidFill>
            </a:endParaRPr>
          </a:p>
          <a:p>
            <a:endParaRPr lang="fr-FR" dirty="0">
              <a:solidFill>
                <a:schemeClr val="tx1"/>
              </a:solidFill>
            </a:endParaRPr>
          </a:p>
          <a:p>
            <a:endParaRPr lang="fr-FR" dirty="0">
              <a:solidFill>
                <a:schemeClr val="tx1"/>
              </a:solidFill>
            </a:endParaRPr>
          </a:p>
          <a:p>
            <a:br>
              <a:rPr lang="fr-FR" dirty="0">
                <a:solidFill>
                  <a:schemeClr val="tx1"/>
                </a:solidFill>
              </a:rPr>
            </a:br>
            <a:endParaRPr lang="en-US" dirty="0">
              <a:solidFill>
                <a:schemeClr val="tx1"/>
              </a:solidFill>
            </a:endParaRPr>
          </a:p>
          <a:p>
            <a:endParaRPr lang="en-US" dirty="0">
              <a:solidFill>
                <a:schemeClr val="tx1"/>
              </a:solidFill>
              <a:latin typeface="Corbel" pitchFamily="34" charset="0"/>
            </a:endParaRPr>
          </a:p>
          <a:p>
            <a:endParaRPr lang="fr-FR" b="1" u="sng" dirty="0">
              <a:solidFill>
                <a:schemeClr val="tx1"/>
              </a:solidFill>
              <a:latin typeface="Bahnschrift Light SemiCondensed" pitchFamily="34" charset="0"/>
            </a:endParaRPr>
          </a:p>
        </p:txBody>
      </p:sp>
      <p:pic>
        <p:nvPicPr>
          <p:cNvPr id="4" name="Picture 8" descr="Virtualization Icon For Virtual Machines - Openclipart"/>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3203848" y="3176972"/>
            <a:ext cx="3096343" cy="2797179"/>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058495"/>
      </p:ext>
    </p:extLst>
  </p:cSld>
  <p:clrMapOvr>
    <a:masterClrMapping/>
  </p:clrMapOvr>
  <mc:AlternateContent xmlns:mc="http://schemas.openxmlformats.org/markup-compatibility/2006" xmlns:p14="http://schemas.microsoft.com/office/powerpoint/2010/main">
    <mc:Choice Requires="p14">
      <p:transition spd="slow" p14:dur="2500" advTm="12000">
        <p:push dir="u"/>
      </p:transition>
    </mc:Choice>
    <mc:Fallback xmlns="">
      <p:transition spd="slow" advTm="12000">
        <p:push dir="u"/>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387</TotalTime>
  <Words>1119</Words>
  <Application>Microsoft Office PowerPoint</Application>
  <PresentationFormat>On-screen Show (4:3)</PresentationFormat>
  <Paragraphs>73</Paragraphs>
  <Slides>11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Aptos</vt:lpstr>
      <vt:lpstr>Bahnschrift Light SemiCondensed</vt:lpstr>
      <vt:lpstr>Castellar</vt:lpstr>
      <vt:lpstr>Corbel</vt:lpstr>
      <vt:lpstr>Lucida Sans Unicode</vt:lpstr>
      <vt:lpstr>Verdana</vt:lpstr>
      <vt:lpstr>Wingdings</vt:lpstr>
      <vt:lpstr>Wingdings 2</vt:lpstr>
      <vt:lpstr>Wingdings 3</vt:lpstr>
      <vt:lpstr>Concourse</vt:lpstr>
      <vt:lpstr>PowerPoint Presentation</vt:lpstr>
      <vt:lpstr>La virtualisation est un pilier de l’informatique moderne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Farah Delice</dc:creator>
  <cp:lastModifiedBy>Delice Widnie</cp:lastModifiedBy>
  <cp:revision>32</cp:revision>
  <dcterms:created xsi:type="dcterms:W3CDTF">2025-02-24T22:09:26Z</dcterms:created>
  <dcterms:modified xsi:type="dcterms:W3CDTF">2025-03-12T19:58:34Z</dcterms:modified>
</cp:coreProperties>
</file>